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68"/>
  </p:normalViewPr>
  <p:slideViewPr>
    <p:cSldViewPr snapToGrid="0">
      <p:cViewPr varScale="1">
        <p:scale>
          <a:sx n="144" d="100"/>
          <a:sy n="144" d="100"/>
        </p:scale>
        <p:origin x="21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theta_F*</c:v>
          </c:tx>
          <c:spPr>
            <a:ln w="28575">
              <a:solidFill>
                <a:srgbClr val="A65F4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3"/>
              <c:pt idx="0">
                <c:v>-6</c:v>
              </c:pt>
              <c:pt idx="1">
                <c:v>-5</c:v>
              </c:pt>
              <c:pt idx="2">
                <c:v>-4</c:v>
              </c:pt>
              <c:pt idx="3">
                <c:v>-3</c:v>
              </c:pt>
              <c:pt idx="4">
                <c:v>-2</c:v>
              </c:pt>
              <c:pt idx="5">
                <c:v>-1</c:v>
              </c:pt>
              <c:pt idx="6">
                <c:v>0</c:v>
              </c:pt>
            </c:numLit>
          </c:cat>
          <c:val>
            <c:numLit>
              <c:formatCode>0%</c:formatCode>
              <c:ptCount val="13"/>
              <c:pt idx="0">
                <c:v>2.4726231566347743E-3</c:v>
              </c:pt>
              <c:pt idx="1">
                <c:v>6.6928509242848554E-3</c:v>
              </c:pt>
              <c:pt idx="2">
                <c:v>1.7986209962091559E-2</c:v>
              </c:pt>
              <c:pt idx="3">
                <c:v>4.7425873177566781E-2</c:v>
              </c:pt>
              <c:pt idx="4">
                <c:v>0.11920292202211755</c:v>
              </c:pt>
              <c:pt idx="5">
                <c:v>0.2689414213699951</c:v>
              </c:pt>
              <c:pt idx="6">
                <c:v>0.5</c:v>
              </c:pt>
              <c:pt idx="7">
                <c:v>0.7310585786300049</c:v>
              </c:pt>
              <c:pt idx="8">
                <c:v>0.88079707797788231</c:v>
              </c:pt>
              <c:pt idx="9">
                <c:v>0.95257412682243336</c:v>
              </c:pt>
              <c:pt idx="10">
                <c:v>0.98201379003790845</c:v>
              </c:pt>
              <c:pt idx="11">
                <c:v>0.99330714907571527</c:v>
              </c:pt>
              <c:pt idx="12">
                <c:v>0.99752737684336534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34F8-6541-9390-B4C69273ADE5}"/>
            </c:ext>
          </c:extLst>
        </c:ser>
        <c:ser>
          <c:idx val="1"/>
          <c:order val="1"/>
          <c:tx>
            <c:v>theta_R*</c:v>
          </c:tx>
          <c:spPr>
            <a:ln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3"/>
              <c:pt idx="0">
                <c:v>-6</c:v>
              </c:pt>
              <c:pt idx="1">
                <c:v>-5</c:v>
              </c:pt>
              <c:pt idx="2">
                <c:v>-4</c:v>
              </c:pt>
              <c:pt idx="3">
                <c:v>-3</c:v>
              </c:pt>
              <c:pt idx="4">
                <c:v>-2</c:v>
              </c:pt>
              <c:pt idx="5">
                <c:v>-1</c:v>
              </c:pt>
              <c:pt idx="6">
                <c:v>0</c:v>
              </c:pt>
            </c:numLit>
          </c:cat>
          <c:val>
            <c:numLit>
              <c:formatCode>0%</c:formatCode>
              <c:ptCount val="13"/>
              <c:pt idx="0">
                <c:v>0.99752737684336523</c:v>
              </c:pt>
              <c:pt idx="1">
                <c:v>0.99330714907571516</c:v>
              </c:pt>
              <c:pt idx="2">
                <c:v>0.98201379003790845</c:v>
              </c:pt>
              <c:pt idx="3">
                <c:v>0.95257412682243325</c:v>
              </c:pt>
              <c:pt idx="4">
                <c:v>0.88079707797788243</c:v>
              </c:pt>
              <c:pt idx="5">
                <c:v>0.7310585786300049</c:v>
              </c:pt>
              <c:pt idx="6">
                <c:v>0.5</c:v>
              </c:pt>
              <c:pt idx="7">
                <c:v>0.2689414213699951</c:v>
              </c:pt>
              <c:pt idx="8">
                <c:v>0.11920292202211769</c:v>
              </c:pt>
              <c:pt idx="9">
                <c:v>4.7425873177566635E-2</c:v>
              </c:pt>
              <c:pt idx="10">
                <c:v>1.7986209962091548E-2</c:v>
              </c:pt>
              <c:pt idx="11">
                <c:v>6.6928509242847323E-3</c:v>
              </c:pt>
              <c:pt idx="12">
                <c:v>2.4726231566346568E-3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34F8-6541-9390-B4C69273AD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900">
                    <a:solidFill>
                      <a:srgbClr val="000000"/>
                    </a:solidFill>
                  </a:rPr>
                  <a:t>score difference U_F - U_R</a:t>
                </a:r>
              </a:p>
            </c:rich>
          </c:tx>
          <c:layout>
            <c:manualLayout>
              <c:xMode val="edge"/>
              <c:yMode val="edge"/>
              <c:x val="0.38475477051855"/>
              <c:y val="0.74985723505873236"/>
            </c:manualLayout>
          </c:layout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4B5563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7620">
              <a:solidFill>
                <a:srgbClr val="E1E4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900">
                    <a:solidFill>
                      <a:srgbClr val="000000"/>
                    </a:solidFill>
                  </a:rPr>
                  <a:t>allocation weight</a:t>
                </a:r>
              </a:p>
            </c:rich>
          </c:tx>
          <c:layout>
            <c:manualLayout>
              <c:xMode val="edge"/>
              <c:yMode val="edge"/>
              <c:x val="8.1681681681681675E-2"/>
              <c:y val="0.28530717266899014"/>
            </c:manualLayout>
          </c:layout>
          <c:overlay val="1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4B5563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 source: references/crabtree-effect-model-sketch.html</a:t>
            </a:r>
          </a:p>
          <a:p>
            <a:r>
              <a:t>- Executable source: references/crabtree-effect-mdeb-model.ipynb</a:t>
            </a:r>
          </a:p>
          <a:p>
            <a:endParaRPr/>
          </a:p>
          <a:p>
            <a:r>
              <a:t>[Presenter note]</a:t>
            </a:r>
          </a:p>
          <a:p>
            <a:r>
              <a:t>Open by framing the deck as a testable model sketch, not a fitted yeast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Tang et al. 2021, 2021-8 copy.pdf, section 3.5, describes Warburg/Crabtree fermentation despite oxygen availability.</a:t>
            </a:r>
          </a:p>
          <a:p>
            <a:r>
              <a:t>- Model source: crabtree-effect-model-sketch.html, regime descriptions and ethanol-as-second-substrate update.</a:t>
            </a:r>
          </a:p>
          <a:p>
            <a:endParaRPr/>
          </a:p>
          <a:p>
            <a:r>
              <a:t>[Presenter note]</a:t>
            </a:r>
          </a:p>
          <a:p>
            <a:r>
              <a:t>Keep the biology simple: the deck asks what mechanism can make fermentation rational under oxygen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Tang and Riley 2025, bg-22-1809-2025.pdf, develops mDEB reserve and structural biomass equations.</a:t>
            </a:r>
          </a:p>
          <a:p>
            <a:r>
              <a:t>- Tang et al. 2021, 2021-8 copy.pdf, motivates Ohm's-law pathway comparisons.</a:t>
            </a:r>
          </a:p>
          <a:p>
            <a:r>
              <a:t>- Model source: crabtree-effect-model-sketch.html, dynamic splitter and ethanol substrate equations.</a:t>
            </a:r>
          </a:p>
          <a:p>
            <a:endParaRPr/>
          </a:p>
          <a:p>
            <a:r>
              <a:t>[Presenter note]</a:t>
            </a:r>
          </a:p>
          <a:p>
            <a:r>
              <a:t>This is the central claim: do not present the splitter as a fitted black box; present it as an allocation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Notebook source: crabtree-effect-mdeb-model.ipynb, default metrics and structural-versus-total biomass distinction.</a:t>
            </a:r>
          </a:p>
          <a:p>
            <a:r>
              <a:t>- Model source: crabtree-effect-model-sketch.html, ethanol-as-second-substrate equations.</a:t>
            </a:r>
          </a:p>
          <a:p>
            <a:endParaRPr/>
          </a:p>
          <a:p>
            <a:r>
              <a:t>[Presenter note]</a:t>
            </a:r>
          </a:p>
          <a:p>
            <a:r>
              <a:t>Use this slide as the scorecard before showing equations or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 source: crabtree-effect-model-sketch.html, state and flux diagram updated with glucose and ethanol substrates.</a:t>
            </a:r>
          </a:p>
          <a:p>
            <a:r>
              <a:t>- Notebook source: crabtree-effect-mdeb-model.ipynb, living structural biomass V and total biomass proxy V(1+x_C).</a:t>
            </a:r>
          </a:p>
          <a:p>
            <a:endParaRPr/>
          </a:p>
          <a:p>
            <a:r>
              <a:t>[Presenter note]</a:t>
            </a:r>
          </a:p>
          <a:p>
            <a:r>
              <a:t>Emphasize that total biomass and living structural biomass are intentionally separate readouts.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 source: crabtree-effect-model-sketch.html, external glucose, ethanol, and oxygen equations.</a:t>
            </a:r>
          </a:p>
          <a:p>
            <a:r>
              <a:t>- Tang and Riley 2025, bg-22-1809-2025.pdf, reserve dynamics basis.</a:t>
            </a:r>
          </a:p>
          <a:p>
            <a:endParaRPr/>
          </a:p>
          <a:p>
            <a:r>
              <a:t>[Presenter note]</a:t>
            </a:r>
          </a:p>
          <a:p>
            <a:r>
              <a:t>This slide introduces the diauxic mechanism in the updated HTML: glucose repression is not symmetric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 source: crabtree-effect-model-sketch.html, softmax splitter, explicit sigmoid form, and attention analogy.</a:t>
            </a:r>
          </a:p>
          <a:p>
            <a:r>
              <a:t>- Tang et al. 2021, 2021-8 copy.pdf, Ohm's-law pathway return framing.</a:t>
            </a:r>
          </a:p>
          <a:p>
            <a:endParaRPr/>
          </a:p>
          <a:p>
            <a:r>
              <a:t>[Presenter note]</a:t>
            </a:r>
          </a:p>
          <a:p>
            <a:r>
              <a:t>The attention analogy is mathematical, not biological: scores become normalized allocation weights; the graph shows the smooth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Notebook source: crabtree-effect-mdeb-model.ipynb, default run outputs and embedded state plot.</a:t>
            </a:r>
          </a:p>
          <a:p>
            <a:r>
              <a:t>- Model source: crabtree-effect-model-sketch.html, updated ethanol-as-second-substrate equations identify the next implementation step.</a:t>
            </a:r>
          </a:p>
          <a:p>
            <a:endParaRPr/>
          </a:p>
          <a:p>
            <a:r>
              <a:t>[Presenter note]</a:t>
            </a:r>
          </a:p>
          <a:p>
            <a:r>
              <a:t>Be explicit that this plot is a structure test, not a finished batch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Model source: crabtree-effect-model-sketch.html, glucose depletion and ethanol substrate regime.</a:t>
            </a:r>
          </a:p>
          <a:p>
            <a:r>
              <a:t>- Notebook source: crabtree-effect-mdeb-model.ipynb, mortality and living-versus-total biomass treatment.</a:t>
            </a:r>
          </a:p>
          <a:p>
            <a:endParaRPr/>
          </a:p>
          <a:p>
            <a:r>
              <a:t>[Presenter note]</a:t>
            </a:r>
          </a:p>
          <a:p>
            <a:r>
              <a:t>This slide turns model gaps into testable next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Source ledger: outputs/crabtree-model-deck-build/source-notes.txt</a:t>
            </a:r>
          </a:p>
          <a:p>
            <a:r>
              <a:t>- Model source: references/crabtree-effect-model-sketch.html and references/crabtree-effect-mdeb-model.ipynb.</a:t>
            </a:r>
          </a:p>
          <a:p>
            <a:endParaRPr/>
          </a:p>
          <a:p>
            <a:r>
              <a:t>[Presenter note]</a:t>
            </a:r>
          </a:p>
          <a:p>
            <a:r>
              <a:t>Close by making the next work concrete: implement, constrain, then calibrate.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7E543542-A396-4431-8EC4-7097090B9236}"/>
              </a:ext>
            </a:extLst>
          </p:cNvPr>
          <p:cNvSpPr>
            <a:spLocks noGrp="1"/>
          </p:cNvSpPr>
          <p:nvPr/>
        </p:nvSpPr>
        <p:spPr>
          <a:xfrm>
            <a:off x="393668" y="2579942"/>
            <a:ext cx="9448800" cy="36242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dynamic carbon-allocation model</a:t>
            </a:r>
            <a:r>
              <a:rPr lang="en-US" sz="51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51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aerobic overflow fermentation</a:t>
            </a:r>
            <a:endParaRPr lang="en-US" sz="51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lnSpc>
                <a:spcPct val="90000"/>
              </a:lnSpc>
              <a:spcAft>
                <a:spcPts val="700"/>
              </a:spcAft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(https://</a:t>
            </a:r>
            <a:r>
              <a:rPr lang="en-US" sz="24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github.com</a:t>
            </a:r>
            <a:r>
              <a:rPr lang="en-US" sz="24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/jinyun1tang/DEB-Agent)</a:t>
            </a:r>
            <a:endParaRPr lang="en-US" sz="24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90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51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Jinyun Tang (with help of codex)</a:t>
            </a:r>
            <a:endParaRPr sz="51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9066AFCE-EB80-413D-8498-0A9719E669CA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6157817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Crabtree effect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CC3DFACA-B726-4322-97CE-58E43682FF4A}"/>
              </a:ext>
            </a:extLst>
          </p:cNvPr>
          <p:cNvSpPr>
            <a:spLocks noGrp="1"/>
          </p:cNvSpPr>
          <p:nvPr/>
        </p:nvSpPr>
        <p:spPr>
          <a:xfrm>
            <a:off x="7886700" y="392240"/>
            <a:ext cx="39116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sketch</a:t>
            </a:r>
          </a:p>
        </p:txBody>
      </p:sp>
    </p:spTree>
    <p:extLst>
      <p:ext uri="{BB962C8B-B14F-4D97-AF65-F5344CB8AC3E}">
        <p14:creationId xmlns:p14="http://schemas.microsoft.com/office/powerpoint/2010/main" val="115539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8ADB81D6-FAC9-47B9-BCE4-8FED467D44F4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28913A84-6868-4D05-AC4A-1908BC539F5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Crabtree effect: ethanol can appear even when oxygen is available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6CDDA555-322F-4FE2-8891-55583946D3A6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phenotype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glucose pushes Crabtree-positive yeast toward aerobic fermentation, so ethanol accumulates even before oxygen is exhausted.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F223CD87-4CCC-4B06-8287-15A04E4446B2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tradeoff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Respiration is high yield; fermentation is lower yield but can be the shorter, faster pathway under high glycolytic supply.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F9D22D7E-3B9D-426F-A533-21C99EBF0E4E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sequence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drawdown, ethanol overflow, diauxic transition, ethanol use, stationary phase, then loss of viability.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9504D0AB-0C77-4DF4-A144-08240100D941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Modeling task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 both the fast overflow decision and the slower regulatory return to respiratory metabolism.</a:t>
            </a:r>
          </a:p>
        </p:txBody>
      </p:sp>
    </p:spTree>
    <p:extLst>
      <p:ext uri="{BB962C8B-B14F-4D97-AF65-F5344CB8AC3E}">
        <p14:creationId xmlns:p14="http://schemas.microsoft.com/office/powerpoint/2010/main" val="59824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Number-Placeholder-1-2">
            <a:extLst>
              <a:ext uri="{FF2B5EF4-FFF2-40B4-BE49-F238E27FC236}">
                <a16:creationId xmlns:a16="http://schemas.microsoft.com/office/drawing/2014/main" id="{5CFA8E10-3BF5-4F55-BD0E-EB9D83ECC0A9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562FD62C-A61F-4C2A-8C0B-A5EE19708BA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Modeling hypothesis: overflow is a regulated pathway allocation problem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41FA97DA-F232-4A04-ADC7-B0A5A66AE45C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Reserve memory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mDEB reserve density x_C separates external glucose history from immediate catabolic supply.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4A52F1AD-D46F-4C33-BC92-F2312D919360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Pathway economics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Ohm's-law returns compare fermentation and respiration as yield divided by effective resistance.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13429A28-B58F-4FB1-B4A8-59CE7636A2F5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Softmax splitter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Pathway scores U_F and U_R become allocation weights theta_F and theta_R, with finite regulatory lag.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C219BA28-B192-4EC0-AEE8-581CA0677776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 substrate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is both product and substrate: glucose represses ethanol uptake until the diauxic phase.</a:t>
            </a:r>
          </a:p>
        </p:txBody>
      </p:sp>
    </p:spTree>
    <p:extLst>
      <p:ext uri="{BB962C8B-B14F-4D97-AF65-F5344CB8AC3E}">
        <p14:creationId xmlns:p14="http://schemas.microsoft.com/office/powerpoint/2010/main" val="116106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286C02C6-6C3E-4DF9-B285-56048094AD85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Evaluate the model against batch-culture signatures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BB59661-F296-4B79-8765-D2D09060C96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" name="metrics-intro">
            <a:extLst>
              <a:ext uri="{FF2B5EF4-FFF2-40B4-BE49-F238E27FC236}">
                <a16:creationId xmlns:a16="http://schemas.microsoft.com/office/drawing/2014/main" id="{07F99E2F-4F7C-44BD-B04F-7D4DFC750AD6}"/>
              </a:ext>
            </a:extLst>
          </p:cNvPr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Evaluation metrics</a:t>
            </a:r>
          </a:p>
          <a:p>
            <a:pPr algn="l">
              <a:defRPr sz="1600" b="0">
                <a:solidFill>
                  <a:srgbClr val="000000"/>
                </a:solidFill>
              </a:defRPr>
            </a:pPr>
            <a:r>
              <a:rPr sz="1600" b="0">
                <a:solidFill>
                  <a:srgbClr val="000000"/>
                </a:solidFill>
              </a:rPr>
              <a:t>The model should be judged by qualitative sequence and quantitative event timing: glucose exhaustion, ethanol peak, oxygen drawdown and recovery, biomass plateau or viability loss, and allocation hysteresis.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457200" y="2324100"/>
          <a:ext cx="11277600" cy="3543300"/>
        </p:xfrm>
        <a:graphic>
          <a:graphicData uri="http://schemas.openxmlformats.org/drawingml/2006/table">
            <a:tbl>
              <a:tblPr firstRow="1" bandRow="1"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Observation target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Expected batch signature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depletion time; uptake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Monotone decline during first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Constrains uptake and reserve 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Ethanol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peak; production / use slopes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Accumulation during glucose, decline after diauxic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overflow and ethanol-as-substrate dynamics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Dissolved 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minimum; recovery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Demand can depress O2 but should not require an impossible negative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respiratory oxygen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Biomass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living V and total V(1+x_C)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Total biomass plateaus; viable structure may decline later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Separates stationary OD from mortality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theta_F timing and hysteresis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High-G fermentation; relaxation after G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Tests dynamic splitter timescale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1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-Shape-532-p58-2">
            <a:extLst>
              <a:ext uri="{FF2B5EF4-FFF2-40B4-BE49-F238E27FC236}">
                <a16:creationId xmlns:a16="http://schemas.microsoft.com/office/drawing/2014/main" id="{41291217-F740-4F93-B805-2E7D85047E4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BC621B16-A479-4B93-8E99-EE478024FA2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variables separate reserve, allocation, and biomass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2B3741CE-720E-4A8A-95CD-A9165394BDBB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variables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G: glucose substrate
EtOH: ethanol product and substrate
O2: dissolved oxygen
x_C: internal carbon reserve
V: living structural biomass
theta_F: fermentation allocation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47844DC0-0546-4FFE-A06B-035581C5AF60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/>
          </a:p>
        </p:txBody>
      </p:sp>
      <p:sp>
        <p:nvSpPr>
          <p:cNvPr id="5" name="cover-existing-region">
            <a:extLst>
              <a:ext uri="{FF2B5EF4-FFF2-40B4-BE49-F238E27FC236}">
                <a16:creationId xmlns:a16="http://schemas.microsoft.com/office/drawing/2014/main" id="{67D8013D-D534-444E-9743-C66249E94A8C}"/>
              </a:ext>
            </a:extLst>
          </p:cNvPr>
          <p:cNvSpPr>
            <a:spLocks noGrp="1"/>
          </p:cNvSpPr>
          <p:nvPr/>
        </p:nvSpPr>
        <p:spPr>
          <a:xfrm>
            <a:off x="6256592" y="1809750"/>
            <a:ext cx="5537168" cy="419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6" name="glucose-node">
            <a:extLst>
              <a:ext uri="{FF2B5EF4-FFF2-40B4-BE49-F238E27FC236}">
                <a16:creationId xmlns:a16="http://schemas.microsoft.com/office/drawing/2014/main" id="{7DA7D3D2-BF2A-4363-97F0-D68E611EBDBF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61925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Glucose G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primary substrate</a:t>
            </a:r>
          </a:p>
        </p:txBody>
      </p:sp>
      <p:sp>
        <p:nvSpPr>
          <p:cNvPr id="7" name="reserve-node">
            <a:extLst>
              <a:ext uri="{FF2B5EF4-FFF2-40B4-BE49-F238E27FC236}">
                <a16:creationId xmlns:a16="http://schemas.microsoft.com/office/drawing/2014/main" id="{DDBA6F82-3ED3-4C60-A8F2-2F5B0EBE6B57}"/>
              </a:ext>
            </a:extLst>
          </p:cNvPr>
          <p:cNvSpPr>
            <a:spLocks noGrp="1"/>
          </p:cNvSpPr>
          <p:nvPr/>
        </p:nvSpPr>
        <p:spPr>
          <a:xfrm>
            <a:off x="8524875" y="1952625"/>
            <a:ext cx="161925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C reserve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x_C and j_E,C</a:t>
            </a:r>
          </a:p>
        </p:txBody>
      </p:sp>
      <p:sp>
        <p:nvSpPr>
          <p:cNvPr id="8" name="fermentation-node">
            <a:extLst>
              <a:ext uri="{FF2B5EF4-FFF2-40B4-BE49-F238E27FC236}">
                <a16:creationId xmlns:a16="http://schemas.microsoft.com/office/drawing/2014/main" id="{C024C693-D48C-4769-97E5-103C3FD652A6}"/>
              </a:ext>
            </a:extLst>
          </p:cNvPr>
          <p:cNvSpPr>
            <a:spLocks noGrp="1"/>
          </p:cNvSpPr>
          <p:nvPr/>
        </p:nvSpPr>
        <p:spPr>
          <a:xfrm>
            <a:off x="7477125" y="3143250"/>
            <a:ext cx="1619250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Fermentation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ethanol + ATP</a:t>
            </a:r>
          </a:p>
        </p:txBody>
      </p:sp>
      <p:sp>
        <p:nvSpPr>
          <p:cNvPr id="9" name="respiration-node">
            <a:extLst>
              <a:ext uri="{FF2B5EF4-FFF2-40B4-BE49-F238E27FC236}">
                <a16:creationId xmlns:a16="http://schemas.microsoft.com/office/drawing/2014/main" id="{3522E971-9E9E-4085-9746-217333803B54}"/>
              </a:ext>
            </a:extLst>
          </p:cNvPr>
          <p:cNvSpPr>
            <a:spLocks noGrp="1"/>
          </p:cNvSpPr>
          <p:nvPr/>
        </p:nvSpPr>
        <p:spPr>
          <a:xfrm>
            <a:off x="9572625" y="3143250"/>
            <a:ext cx="1762125" cy="74295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Respiration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ATP + O2 demand</a:t>
            </a:r>
          </a:p>
        </p:txBody>
      </p:sp>
      <p:sp>
        <p:nvSpPr>
          <p:cNvPr id="10" name="ethanol-node">
            <a:extLst>
              <a:ext uri="{FF2B5EF4-FFF2-40B4-BE49-F238E27FC236}">
                <a16:creationId xmlns:a16="http://schemas.microsoft.com/office/drawing/2014/main" id="{96EB960F-0F06-4B79-989F-17E157B94F7E}"/>
              </a:ext>
            </a:extLst>
          </p:cNvPr>
          <p:cNvSpPr>
            <a:spLocks noGrp="1"/>
          </p:cNvSpPr>
          <p:nvPr/>
        </p:nvSpPr>
        <p:spPr>
          <a:xfrm>
            <a:off x="7477125" y="4476750"/>
            <a:ext cx="161925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Ethanol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product, then substrate</a:t>
            </a:r>
          </a:p>
        </p:txBody>
      </p:sp>
      <p:sp>
        <p:nvSpPr>
          <p:cNvPr id="11" name="biomass-node">
            <a:extLst>
              <a:ext uri="{FF2B5EF4-FFF2-40B4-BE49-F238E27FC236}">
                <a16:creationId xmlns:a16="http://schemas.microsoft.com/office/drawing/2014/main" id="{2E41AB48-71BD-428A-A63A-4561F804E9AB}"/>
              </a:ext>
            </a:extLst>
          </p:cNvPr>
          <p:cNvSpPr>
            <a:spLocks noGrp="1"/>
          </p:cNvSpPr>
          <p:nvPr/>
        </p:nvSpPr>
        <p:spPr>
          <a:xfrm>
            <a:off x="9572625" y="4476750"/>
            <a:ext cx="1762125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383">
            <a:solidFill>
              <a:srgbClr val="B8BCC4"/>
            </a:solidFill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Living V</a:t>
            </a:r>
          </a:p>
          <a:p>
            <a:pPr algn="ctr">
              <a:defRPr sz="1425">
                <a:solidFill>
                  <a:srgbClr val="000000"/>
                </a:solidFill>
              </a:defRPr>
            </a:pPr>
            <a:r>
              <a:rPr sz="1425">
                <a:solidFill>
                  <a:srgbClr val="000000"/>
                </a:solidFill>
              </a:rPr>
              <a:t>growth minus mortality</a:t>
            </a:r>
          </a:p>
        </p:txBody>
      </p:sp>
      <p:cxnSp>
        <p:nvCxnSpPr>
          <p:cNvPr id="30" name="Straight Arrow Connector 29"/>
          <p:cNvCxnSpPr>
            <a:stCxn id="6" idx="3"/>
            <a:endCxn id="7" idx="1"/>
          </p:cNvCxnSpPr>
          <p:nvPr/>
        </p:nvCxnSpPr>
        <p:spPr>
          <a:xfrm>
            <a:off x="8096250" y="2324100"/>
            <a:ext cx="428625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31" name="Elbow Connector 30"/>
          <p:cNvCxnSpPr>
            <a:stCxn id="7" idx="2"/>
            <a:endCxn id="8" idx="0"/>
          </p:cNvCxnSpPr>
          <p:nvPr/>
        </p:nvCxnSpPr>
        <p:spPr>
          <a:xfrm flipH="1">
            <a:off x="8286750" y="2695575"/>
            <a:ext cx="1047750" cy="447675"/>
          </a:xfrm>
          <a:prstGeom prst="bentConnector4">
            <a:avLst>
              <a:gd name="adj1" fmla="val 0"/>
              <a:gd name="adj2" fmla="val 50000"/>
            </a:avLst>
          </a:prstGeom>
          <a:ln w="22860">
            <a:solidFill>
              <a:srgbClr val="A65F4A"/>
            </a:solidFill>
            <a:prstDash val="solid"/>
            <a:tailEnd type="arrow" w="sm" len="sm"/>
          </a:ln>
        </p:spPr>
      </p:cxnSp>
      <p:cxnSp>
        <p:nvCxnSpPr>
          <p:cNvPr id="32" name="Elbow Connector 31"/>
          <p:cNvCxnSpPr>
            <a:stCxn id="7" idx="3"/>
            <a:endCxn id="9" idx="0"/>
          </p:cNvCxnSpPr>
          <p:nvPr/>
        </p:nvCxnSpPr>
        <p:spPr>
          <a:xfrm>
            <a:off x="10144125" y="2324100"/>
            <a:ext cx="309563" cy="819150"/>
          </a:xfrm>
          <a:prstGeom prst="bentConnector2">
            <a:avLst/>
          </a:prstGeom>
          <a:ln w="2286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3" name="Straight Arrow Connector 32"/>
          <p:cNvCxnSpPr>
            <a:stCxn id="8" idx="2"/>
            <a:endCxn id="10" idx="0"/>
          </p:cNvCxnSpPr>
          <p:nvPr/>
        </p:nvCxnSpPr>
        <p:spPr>
          <a:xfrm>
            <a:off x="8286750" y="3886200"/>
            <a:ext cx="0" cy="590550"/>
          </a:xfrm>
          <a:prstGeom prst="straightConnector1">
            <a:avLst/>
          </a:prstGeom>
          <a:ln w="22860">
            <a:solidFill>
              <a:srgbClr val="A65F4A"/>
            </a:solidFill>
            <a:prstDash val="solid"/>
            <a:tailEnd type="arrow" w="sm" len="sm"/>
          </a:ln>
        </p:spPr>
      </p:cxnSp>
      <p:cxnSp>
        <p:nvCxnSpPr>
          <p:cNvPr id="34" name="Straight Arrow Connector 33"/>
          <p:cNvCxnSpPr>
            <a:stCxn id="9" idx="2"/>
            <a:endCxn id="11" idx="0"/>
          </p:cNvCxnSpPr>
          <p:nvPr/>
        </p:nvCxnSpPr>
        <p:spPr>
          <a:xfrm>
            <a:off x="10453688" y="3886200"/>
            <a:ext cx="0" cy="590550"/>
          </a:xfrm>
          <a:prstGeom prst="straightConnector1">
            <a:avLst/>
          </a:prstGeom>
          <a:ln w="2286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35" name="Elbow Connector 34"/>
          <p:cNvCxnSpPr>
            <a:stCxn id="10" idx="3"/>
            <a:endCxn id="9" idx="1"/>
          </p:cNvCxnSpPr>
          <p:nvPr/>
        </p:nvCxnSpPr>
        <p:spPr>
          <a:xfrm flipV="1">
            <a:off x="9096375" y="3514725"/>
            <a:ext cx="476250" cy="1333500"/>
          </a:xfrm>
          <a:prstGeom prst="bentConnector3">
            <a:avLst>
              <a:gd name="adj1" fmla="val 50000"/>
            </a:avLst>
          </a:prstGeom>
          <a:ln w="19050">
            <a:solidFill>
              <a:srgbClr val="A65F4A"/>
            </a:solidFill>
            <a:prstDash val="solid"/>
            <a:tailEnd type="arrow" w="sm" len="sm"/>
          </a:ln>
        </p:spPr>
      </p:cxnSp>
      <p:sp>
        <p:nvSpPr>
          <p:cNvPr id="18" name="diagram-caption">
            <a:extLst>
              <a:ext uri="{FF2B5EF4-FFF2-40B4-BE49-F238E27FC236}">
                <a16:creationId xmlns:a16="http://schemas.microsoft.com/office/drawing/2014/main" id="{3996EF38-4B93-4E02-A05D-C882D78F9014}"/>
              </a:ext>
            </a:extLst>
          </p:cNvPr>
          <p:cNvSpPr>
            <a:spLocks noGrp="1"/>
          </p:cNvSpPr>
          <p:nvPr/>
        </p:nvSpPr>
        <p:spPr>
          <a:xfrm>
            <a:off x="6496050" y="5476875"/>
            <a:ext cx="485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Glucose drives overflow fermentation; ethanol can later feed respiration when glucose repression weakens.</a:t>
            </a:r>
          </a:p>
        </p:txBody>
      </p:sp>
    </p:spTree>
    <p:extLst>
      <p:ext uri="{BB962C8B-B14F-4D97-AF65-F5344CB8AC3E}">
        <p14:creationId xmlns:p14="http://schemas.microsoft.com/office/powerpoint/2010/main" val="72667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-Shape-532-p58-2">
            <a:extLst>
              <a:ext uri="{FF2B5EF4-FFF2-40B4-BE49-F238E27FC236}">
                <a16:creationId xmlns:a16="http://schemas.microsoft.com/office/drawing/2014/main" id="{6F0E9CFB-2AC5-42B2-9018-8484F5859D4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1EF13B16-4758-4EF9-A457-ACA194DCC91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feeds reserve; ethanol feeds oxygen-dependent respiration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223429D0-C995-498C-B018-50C621EAD34F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5348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reserve input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j_A,G = j_G,max G/(K_G + G)
 dx_C/dt = j_A,G - j_E,C - mu x_C
 j_E,C = v_E,C x_C/(K_E,C + x_C)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EDBA3BF7-8A1A-4AC2-8C45-0D20BA3CB451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substrate gate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I_G(G) = 1/(1 + (G/K_G,E)^n)
 j_A,EtOH = j_EtOH,max EtOH/(K_EtOH+EtOH) * O2/(K_O,EtOH+O2) * I_G
Ethanol uptake is weak while glucose is high.</a:t>
            </a:r>
          </a:p>
        </p:txBody>
      </p:sp>
    </p:spTree>
    <p:extLst>
      <p:ext uri="{BB962C8B-B14F-4D97-AF65-F5344CB8AC3E}">
        <p14:creationId xmlns:p14="http://schemas.microsoft.com/office/powerpoint/2010/main" val="174933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0D59BFA0-E72D-4D21-B18A-8994B10B67D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Softmax weights make the pathway switch continuous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7C2D9D2E-9714-4929-B1D1-571174A9D4A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pathway-scores-title">
            <a:extLst>
              <a:ext uri="{FF2B5EF4-FFF2-40B4-BE49-F238E27FC236}">
                <a16:creationId xmlns:a16="http://schemas.microsoft.com/office/drawing/2014/main" id="{63F7E851-38E3-4963-BD85-E4D9A7DCF88E}"/>
              </a:ext>
            </a:extLst>
          </p:cNvPr>
          <p:cNvSpPr>
            <a:spLocks noGrp="1"/>
          </p:cNvSpPr>
          <p:nvPr/>
        </p:nvSpPr>
        <p:spPr>
          <a:xfrm>
            <a:off x="495300" y="1647825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Pathway scores</a:t>
            </a:r>
          </a:p>
        </p:txBody>
      </p:sp>
      <p:sp>
        <p:nvSpPr>
          <p:cNvPr id="4" name="pathway-scores-body">
            <a:extLst>
              <a:ext uri="{FF2B5EF4-FFF2-40B4-BE49-F238E27FC236}">
                <a16:creationId xmlns:a16="http://schemas.microsoft.com/office/drawing/2014/main" id="{0D781721-7F2B-4ACB-AB3C-C4A203B25FC3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538162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Pi_F = Y_ATP,F/(1/f_G + r_F)</a:t>
            </a:r>
          </a:p>
          <a:p>
            <a:endParaRPr sz="1575" b="0">
              <a:solidFill>
                <a:srgbClr val="000000"/>
              </a:solidFill>
            </a:endParaRP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Pi_R = Y_ATP,R/(1/f_G + r_TCA + r_ETC + 1/f_O2)</a:t>
            </a:r>
          </a:p>
          <a:p>
            <a:endParaRPr sz="1575" b="0">
              <a:solidFill>
                <a:srgbClr val="000000"/>
              </a:solidFill>
            </a:endParaRP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U_F = beta Pi_F + beta_a ln(a_G/a_C)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U_R = beta Pi_R</a:t>
            </a:r>
          </a:p>
        </p:txBody>
      </p:sp>
      <p:sp>
        <p:nvSpPr>
          <p:cNvPr id="5" name="allocation-rule-title">
            <a:extLst>
              <a:ext uri="{FF2B5EF4-FFF2-40B4-BE49-F238E27FC236}">
                <a16:creationId xmlns:a16="http://schemas.microsoft.com/office/drawing/2014/main" id="{9C044B7E-7714-4831-AAFB-DD95BE3217B5}"/>
              </a:ext>
            </a:extLst>
          </p:cNvPr>
          <p:cNvSpPr>
            <a:spLocks noGrp="1"/>
          </p:cNvSpPr>
          <p:nvPr/>
        </p:nvSpPr>
        <p:spPr>
          <a:xfrm>
            <a:off x="495300" y="440055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Softmax allocation</a:t>
            </a:r>
          </a:p>
        </p:txBody>
      </p:sp>
      <p:sp>
        <p:nvSpPr>
          <p:cNvPr id="6" name="allocation-rule-body">
            <a:extLst>
              <a:ext uri="{FF2B5EF4-FFF2-40B4-BE49-F238E27FC236}">
                <a16:creationId xmlns:a16="http://schemas.microsoft.com/office/drawing/2014/main" id="{A23D32C8-DF3C-4A1C-855F-D145B94889C0}"/>
              </a:ext>
            </a:extLst>
          </p:cNvPr>
          <p:cNvSpPr>
            <a:spLocks noGrp="1"/>
          </p:cNvSpPr>
          <p:nvPr/>
        </p:nvSpPr>
        <p:spPr>
          <a:xfrm>
            <a:off x="495300" y="4876800"/>
            <a:ext cx="5381625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theta_i* = exp(U_i) / [exp(U_F)+exp(U_R)]</a:t>
            </a:r>
          </a:p>
          <a:p>
            <a:endParaRPr sz="1575" b="0">
              <a:solidFill>
                <a:srgbClr val="000000"/>
              </a:solidFill>
            </a:endParaRP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theta_F* = 1 / [1 + exp(-(U_F - U_R))]</a:t>
            </a:r>
          </a:p>
          <a:p>
            <a:endParaRPr sz="1575" b="0">
              <a:solidFill>
                <a:srgbClr val="000000"/>
              </a:solidFill>
            </a:endParaRP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dtheta_F/dt = (theta_F* - theta_F)/tau_reg</a:t>
            </a:r>
          </a:p>
        </p:txBody>
      </p:sp>
      <p:sp>
        <p:nvSpPr>
          <p:cNvPr id="7" name="softmax-graph-title">
            <a:extLst>
              <a:ext uri="{FF2B5EF4-FFF2-40B4-BE49-F238E27FC236}">
                <a16:creationId xmlns:a16="http://schemas.microsoft.com/office/drawing/2014/main" id="{467D1FE7-9327-4E1C-8860-C2D31B370ADB}"/>
              </a:ext>
            </a:extLst>
          </p:cNvPr>
          <p:cNvSpPr>
            <a:spLocks noGrp="1"/>
          </p:cNvSpPr>
          <p:nvPr/>
        </p:nvSpPr>
        <p:spPr>
          <a:xfrm>
            <a:off x="6477000" y="1647825"/>
            <a:ext cx="5095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Transition captured by softmax</a:t>
            </a:r>
          </a:p>
        </p:txBody>
      </p:sp>
      <p:sp>
        <p:nvSpPr>
          <p:cNvPr id="8" name="softmax-graph-caption">
            <a:extLst>
              <a:ext uri="{FF2B5EF4-FFF2-40B4-BE49-F238E27FC236}">
                <a16:creationId xmlns:a16="http://schemas.microsoft.com/office/drawing/2014/main" id="{95CDB969-4CFB-4530-BF63-5245B79DB344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509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When U_F - U_R crosses zero, allocation shifts smoothly from respiration to fermentation.</a:t>
            </a:r>
          </a:p>
        </p:txBody>
      </p:sp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2256839911"/>
              </p:ext>
            </p:extLst>
          </p:nvPr>
        </p:nvGraphicFramePr>
        <p:xfrm>
          <a:off x="6419850" y="2809875"/>
          <a:ext cx="5286375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oftmax-threshold-note">
            <a:extLst>
              <a:ext uri="{FF2B5EF4-FFF2-40B4-BE49-F238E27FC236}">
                <a16:creationId xmlns:a16="http://schemas.microsoft.com/office/drawing/2014/main" id="{67CC989D-687B-42AE-9986-58F62243398F}"/>
              </a:ext>
            </a:extLst>
          </p:cNvPr>
          <p:cNvSpPr>
            <a:spLocks noGrp="1"/>
          </p:cNvSpPr>
          <p:nvPr/>
        </p:nvSpPr>
        <p:spPr>
          <a:xfrm>
            <a:off x="7353300" y="57531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At equal scores: theta_F* = theta_R* = 0.5</a:t>
            </a:r>
          </a:p>
        </p:txBody>
      </p:sp>
    </p:spTree>
    <p:extLst>
      <p:ext uri="{BB962C8B-B14F-4D97-AF65-F5344CB8AC3E}">
        <p14:creationId xmlns:p14="http://schemas.microsoft.com/office/powerpoint/2010/main" val="83738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C4079716-836E-40DC-B63B-EC7586DA27D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Notebook run captures overflow, not diauxic ethanol use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FE40DED-1105-4F8E-A31D-BE6AF34F698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/>
          <a:lstStyle/>
          <a:p>
            <a:pPr algn="r">
              <a:defRPr sz="1000" b="0">
                <a:solidFill>
                  <a:srgbClr val="000000"/>
                </a:solidFill>
              </a:defRPr>
            </a:pPr>
            <a:r>
              <a:rPr sz="1000" b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3" name="state-plot-frame">
            <a:extLst>
              <a:ext uri="{FF2B5EF4-FFF2-40B4-BE49-F238E27FC236}">
                <a16:creationId xmlns:a16="http://schemas.microsoft.com/office/drawing/2014/main" id="{B2E96C6E-BC01-4A74-A22E-B574DF904862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5429250" cy="4305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6661" y="1590675"/>
            <a:ext cx="4734128" cy="4171950"/>
          </a:xfrm>
          <a:prstGeom prst="rect">
            <a:avLst/>
          </a:prstGeom>
        </p:spPr>
      </p:pic>
      <p:sp>
        <p:nvSpPr>
          <p:cNvPr id="5" name="overflow-card-surface">
            <a:extLst>
              <a:ext uri="{FF2B5EF4-FFF2-40B4-BE49-F238E27FC236}">
                <a16:creationId xmlns:a16="http://schemas.microsoft.com/office/drawing/2014/main" id="{BCA7EAA2-C53F-4095-9313-8B7D8864043D}"/>
              </a:ext>
            </a:extLst>
          </p:cNvPr>
          <p:cNvSpPr>
            <a:spLocks noGrp="1"/>
          </p:cNvSpPr>
          <p:nvPr/>
        </p:nvSpPr>
        <p:spPr>
          <a:xfrm>
            <a:off x="6264402" y="1504950"/>
            <a:ext cx="5533930" cy="131445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</p:sp>
      <p:sp>
        <p:nvSpPr>
          <p:cNvPr id="6" name="overflow-card-text">
            <a:extLst>
              <a:ext uri="{FF2B5EF4-FFF2-40B4-BE49-F238E27FC236}">
                <a16:creationId xmlns:a16="http://schemas.microsoft.com/office/drawing/2014/main" id="{F9C769C1-2E63-4B5A-AEA1-239FDD882454}"/>
              </a:ext>
            </a:extLst>
          </p:cNvPr>
          <p:cNvSpPr>
            <a:spLocks noGrp="1"/>
          </p:cNvSpPr>
          <p:nvPr/>
        </p:nvSpPr>
        <p:spPr>
          <a:xfrm>
            <a:off x="6550152" y="1771650"/>
            <a:ext cx="496243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Overflow appears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theta_F peaks near 0.97 and ethanol peaks near 40.5 in the illustrative high-glucose pulse.</a:t>
            </a:r>
          </a:p>
        </p:txBody>
      </p:sp>
      <p:sp>
        <p:nvSpPr>
          <p:cNvPr id="7" name="biomass-card-surface">
            <a:extLst>
              <a:ext uri="{FF2B5EF4-FFF2-40B4-BE49-F238E27FC236}">
                <a16:creationId xmlns:a16="http://schemas.microsoft.com/office/drawing/2014/main" id="{04A2D35A-1E45-41CE-B504-1D695043EA7B}"/>
              </a:ext>
            </a:extLst>
          </p:cNvPr>
          <p:cNvSpPr>
            <a:spLocks noGrp="1"/>
          </p:cNvSpPr>
          <p:nvPr/>
        </p:nvSpPr>
        <p:spPr>
          <a:xfrm>
            <a:off x="6264402" y="3105150"/>
            <a:ext cx="5533930" cy="131445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</p:sp>
      <p:sp>
        <p:nvSpPr>
          <p:cNvPr id="8" name="biomass-card-text">
            <a:extLst>
              <a:ext uri="{FF2B5EF4-FFF2-40B4-BE49-F238E27FC236}">
                <a16:creationId xmlns:a16="http://schemas.microsoft.com/office/drawing/2014/main" id="{45759E34-9BD2-4C35-B522-93DB4D71BA41}"/>
              </a:ext>
            </a:extLst>
          </p:cNvPr>
          <p:cNvSpPr>
            <a:spLocks noGrp="1"/>
          </p:cNvSpPr>
          <p:nvPr/>
        </p:nvSpPr>
        <p:spPr>
          <a:xfrm>
            <a:off x="6550152" y="3371850"/>
            <a:ext cx="496243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Biomass distinction matters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Total biomass V(1+x_C) peaks at 10.75 while living structural V peaks at 3.45.</a:t>
            </a:r>
          </a:p>
        </p:txBody>
      </p:sp>
      <p:sp>
        <p:nvSpPr>
          <p:cNvPr id="9" name="gap-card-surface">
            <a:extLst>
              <a:ext uri="{FF2B5EF4-FFF2-40B4-BE49-F238E27FC236}">
                <a16:creationId xmlns:a16="http://schemas.microsoft.com/office/drawing/2014/main" id="{4F8C539E-D2F4-4544-9B25-4C47FED2D70F}"/>
              </a:ext>
            </a:extLst>
          </p:cNvPr>
          <p:cNvSpPr>
            <a:spLocks noGrp="1"/>
          </p:cNvSpPr>
          <p:nvPr/>
        </p:nvSpPr>
        <p:spPr>
          <a:xfrm>
            <a:off x="6264402" y="4705350"/>
            <a:ext cx="5533930" cy="131445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</p:sp>
      <p:sp>
        <p:nvSpPr>
          <p:cNvPr id="10" name="gap-card-text">
            <a:extLst>
              <a:ext uri="{FF2B5EF4-FFF2-40B4-BE49-F238E27FC236}">
                <a16:creationId xmlns:a16="http://schemas.microsoft.com/office/drawing/2014/main" id="{0A3B29BF-A004-4766-A911-AB8DD47B97ED}"/>
              </a:ext>
            </a:extLst>
          </p:cNvPr>
          <p:cNvSpPr>
            <a:spLocks noGrp="1"/>
          </p:cNvSpPr>
          <p:nvPr/>
        </p:nvSpPr>
        <p:spPr>
          <a:xfrm>
            <a:off x="6550152" y="4972050"/>
            <a:ext cx="496243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Known gap</a:t>
            </a:r>
          </a:p>
          <a:p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 notebook trajectory still lacks oxygen-limited ethanol uptake after glucose depletion.</a:t>
            </a:r>
          </a:p>
        </p:txBody>
      </p:sp>
    </p:spTree>
    <p:extLst>
      <p:ext uri="{BB962C8B-B14F-4D97-AF65-F5344CB8AC3E}">
        <p14:creationId xmlns:p14="http://schemas.microsoft.com/office/powerpoint/2010/main" val="143417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1630AFA7-6BC2-4BBE-A5FD-FBAD6F215DA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98000"/>
              </a:lnSpc>
              <a:spcAft>
                <a:spcPts val="70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F1D6DE98-D253-432A-AC4D-F3202205660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realistic batch fit should reproduce the full diauxic sequence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3565A3A7-9CCA-4AE7-9994-8DE9719B0AA9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136A7CD5-4A70-4773-A4DD-621505E41AED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31743105-D5AF-4016-B628-53DB3D9E1028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C8E51A34-1ACA-4784-9718-CD57FE4AA598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phase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F130541F-3236-4675-B5DC-D9FA41043056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Diauxic switch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CA4C789B-72AF-4D7B-A79E-BD96653306A3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Stationary / death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3EDC2753-1CC5-4C31-9740-048BDC372F24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Ethanol use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Glucose repression relaxes; ethanol uptake and respiration require O2.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60D8135B-FA29-4D87-B54D-F36E2712E7CE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Overflow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G drives theta_F upward; ethanol accumulates while glucose is consumed.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2A6EE143-E2FD-46FE-A14A-025A93CCC0CE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Biomass readout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Total biomass can plateau while living V declines under maintenance deficit.</a:t>
            </a:r>
          </a:p>
        </p:txBody>
      </p:sp>
    </p:spTree>
    <p:extLst>
      <p:ext uri="{BB962C8B-B14F-4D97-AF65-F5344CB8AC3E}">
        <p14:creationId xmlns:p14="http://schemas.microsoft.com/office/powerpoint/2010/main" val="890888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16820645-9D18-4F32-9C62-93DFD0837E28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sketch as a falsifiable batch model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B9D7FC61-69C6-4377-B8A5-50C88EAFF9A6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 ethanol uptake</a:t>
            </a:r>
          </a:p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 respiratory O2 demand</a:t>
            </a:r>
          </a:p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Fit the batch metrics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8C0793FB-D6F2-4A43-85EC-6178CB4D3323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9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996172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1541</Words>
  <Application>Microsoft Macintosh PowerPoint</Application>
  <DocSecurity>0</DocSecurity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Jinyun Tang</cp:lastModifiedBy>
  <cp:revision>2</cp:revision>
  <dcterms:created xsi:type="dcterms:W3CDTF">2026-07-27T17:49:32Z</dcterms:created>
  <dcterms:modified xsi:type="dcterms:W3CDTF">2026-07-27T20:35:20Z</dcterms:modified>
</cp:coreProperties>
</file>
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334fffbed44b4" /><Relationship Type="http://schemas.openxmlformats.org/officeDocument/2006/relationships/extended-properties" Target="/docProps/app.xml" Id="Rd33bf6b7fbce434e" /><Relationship Type="http://schemas.openxmlformats.org/officeDocument/2006/relationships/officeDocument" Target="/ppt/presentation.xml" Id="R97672e67c0694c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13796ea0b04769"/>
  </p:sldMasterIdLst>
  <p:notesMasterIdLst>
    <p:notesMasterId xmlns:r="http://schemas.openxmlformats.org/officeDocument/2006/relationships" r:id="R76df0107bc554e27"/>
  </p:notesMasterIdLst>
  <p:sldIdLst>
    <p:sldId xmlns:r="http://schemas.openxmlformats.org/officeDocument/2006/relationships" id="256" r:id="R95a069d80c9f4ca5"/>
    <p:sldId xmlns:r="http://schemas.openxmlformats.org/officeDocument/2006/relationships" id="257" r:id="R6abf0eae8afc494d"/>
    <p:sldId xmlns:r="http://schemas.openxmlformats.org/officeDocument/2006/relationships" id="258" r:id="R16400cddb63d42a4"/>
    <p:sldId xmlns:r="http://schemas.openxmlformats.org/officeDocument/2006/relationships" id="259" r:id="R3c15230ab0934a6e"/>
    <p:sldId xmlns:r="http://schemas.openxmlformats.org/officeDocument/2006/relationships" id="260" r:id="R06d33b1c137a4981"/>
    <p:sldId xmlns:r="http://schemas.openxmlformats.org/officeDocument/2006/relationships" id="261" r:id="R1a98b3cce70544d8"/>
    <p:sldId xmlns:r="http://schemas.openxmlformats.org/officeDocument/2006/relationships" id="262" r:id="R9606ff3a5fe14a8d"/>
    <p:sldId xmlns:r="http://schemas.openxmlformats.org/officeDocument/2006/relationships" id="263" r:id="Rd7ee2f58a8f34fcf"/>
    <p:sldId xmlns:r="http://schemas.openxmlformats.org/officeDocument/2006/relationships" id="264" r:id="R9811bf88a3714d5a"/>
    <p:sldId xmlns:r="http://schemas.openxmlformats.org/officeDocument/2006/relationships" id="265" r:id="R7f89e3446696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20fe5b00a14582" /><Relationship Type="http://schemas.openxmlformats.org/officeDocument/2006/relationships/slideMaster" Target="/ppt/slideMasters/slideMaster1.xml" Id="R8f13796ea0b04769" /><Relationship Type="http://schemas.openxmlformats.org/officeDocument/2006/relationships/notesMaster" Target="/ppt/notesMasters/notesMaster1.xml" Id="R76df0107bc554e27" /><Relationship Type="http://schemas.openxmlformats.org/officeDocument/2006/relationships/presProps" Target="/ppt/presProps.xml" Id="R0419560992ac4d4b" /><Relationship Type="http://schemas.openxmlformats.org/officeDocument/2006/relationships/tableStyles" Target="/ppt/tableStyles.xml" Id="Rc5f5c5b743564ad2" /><Relationship Type="http://schemas.openxmlformats.org/officeDocument/2006/relationships/slide" Target="/ppt/slides/slide1.xml" Id="R95a069d80c9f4ca5" /><Relationship Type="http://schemas.openxmlformats.org/officeDocument/2006/relationships/slide" Target="/ppt/slides/slide2.xml" Id="R6abf0eae8afc494d" /><Relationship Type="http://schemas.openxmlformats.org/officeDocument/2006/relationships/slide" Target="/ppt/slides/slide3.xml" Id="R16400cddb63d42a4" /><Relationship Type="http://schemas.openxmlformats.org/officeDocument/2006/relationships/slide" Target="/ppt/slides/slide4.xml" Id="R3c15230ab0934a6e" /><Relationship Type="http://schemas.openxmlformats.org/officeDocument/2006/relationships/slide" Target="/ppt/slides/slide5.xml" Id="R06d33b1c137a4981" /><Relationship Type="http://schemas.openxmlformats.org/officeDocument/2006/relationships/slide" Target="/ppt/slides/slide6.xml" Id="R1a98b3cce70544d8" /><Relationship Type="http://schemas.openxmlformats.org/officeDocument/2006/relationships/slide" Target="/ppt/slides/slide7.xml" Id="R9606ff3a5fe14a8d" /><Relationship Type="http://schemas.openxmlformats.org/officeDocument/2006/relationships/slide" Target="/ppt/slides/slide8.xml" Id="Rd7ee2f58a8f34fcf" /><Relationship Type="http://schemas.openxmlformats.org/officeDocument/2006/relationships/slide" Target="/ppt/slides/slide9.xml" Id="R9811bf88a3714d5a" /><Relationship Type="http://schemas.openxmlformats.org/officeDocument/2006/relationships/slide" Target="/ppt/slides/slide10.xml" Id="R7f89e3446696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28bfc6b0044e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bf51a863e4a60" /><Relationship Type="http://schemas.openxmlformats.org/officeDocument/2006/relationships/notesMaster" Target="/ppt/notesMasters/notesMaster1.xml" Id="R2932cb4e03aa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52cc62c6b490b" /><Relationship Type="http://schemas.openxmlformats.org/officeDocument/2006/relationships/notesMaster" Target="/ppt/notesMasters/notesMaster1.xml" Id="R19c58b59b4bc46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557acfa8643b7" /><Relationship Type="http://schemas.openxmlformats.org/officeDocument/2006/relationships/notesMaster" Target="/ppt/notesMasters/notesMaster1.xml" Id="Rab892059f5cf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7f85d671e473a" /><Relationship Type="http://schemas.openxmlformats.org/officeDocument/2006/relationships/notesMaster" Target="/ppt/notesMasters/notesMaster1.xml" Id="R8da06558b760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ffa5b148143aa" /><Relationship Type="http://schemas.openxmlformats.org/officeDocument/2006/relationships/notesMaster" Target="/ppt/notesMasters/notesMaster1.xml" Id="Rfe6b75c31bc2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88d1db9854a10" /><Relationship Type="http://schemas.openxmlformats.org/officeDocument/2006/relationships/notesMaster" Target="/ppt/notesMasters/notesMaster1.xml" Id="R42b3ced09baf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d1b95ba3054657" /><Relationship Type="http://schemas.openxmlformats.org/officeDocument/2006/relationships/notesMaster" Target="/ppt/notesMasters/notesMaster1.xml" Id="R805d6d0bd40f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991abd7c749de" /><Relationship Type="http://schemas.openxmlformats.org/officeDocument/2006/relationships/notesMaster" Target="/ppt/notesMasters/notesMaster1.xml" Id="Re2bc86bfb1554d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466e25cdf4eed" /><Relationship Type="http://schemas.openxmlformats.org/officeDocument/2006/relationships/notesMaster" Target="/ppt/notesMasters/notesMaster1.xml" Id="Rda970c1d42384d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771ac216324085" /><Relationship Type="http://schemas.openxmlformats.org/officeDocument/2006/relationships/notesMaster" Target="/ppt/notesMasters/notesMaster1.xml" Id="R8911222e0775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source: references/crabtree-effect-model-sketch.html</a:t>
            </a:r>
          </a:p>
          <a:p xmlns:a="http://schemas.openxmlformats.org/drawingml/2006/main">
            <a:r>
              <a:t>- Executable source: references/crabtree-effect-mdeb-model.ipynb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Open by framing the deck as a testable model sketch, not a fitted yeast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Tang et al. 2021, 2021-8 copy.pdf, section 3.5, describes Warburg/Crabtree fermentation despite oxygen availability.</a:t>
            </a:r>
          </a:p>
          <a:p xmlns:a="http://schemas.openxmlformats.org/drawingml/2006/main">
            <a:r>
              <a:t>- Model source: crabtree-effect-model-sketch.html, regime descriptions and ethanol-as-second-substrate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Keep the biology simple: the deck asks what mechanism can make fermentation rational under oxygen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Tang and Riley 2025, bg-22-1809-2025.pdf, develops mDEB reserve and structural biomass equations.</a:t>
            </a:r>
          </a:p>
          <a:p xmlns:a="http://schemas.openxmlformats.org/drawingml/2006/main">
            <a:r>
              <a:t>- Tang et al. 2021, 2021-8 copy.pdf, motivates Ohm's-law pathway comparisons.</a:t>
            </a:r>
          </a:p>
          <a:p xmlns:a="http://schemas.openxmlformats.org/drawingml/2006/main">
            <a:r>
              <a:t>- Model source: crabtree-effect-model-sketch.html, dynamic splitter and ethanol substrate equations.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This is the central claim: do not present the splitter as a fitted black box; present it as an allocation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 source: crabtree-effect-mdeb-model.ipynb, default metrics and structural-versus-total biomass distinction.</a:t>
            </a:r>
          </a:p>
          <a:p xmlns:a="http://schemas.openxmlformats.org/drawingml/2006/main">
            <a:r>
              <a:t>- Model source: crabtree-effect-model-sketch.html, ethanol-as-second-substrate equations.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Use this slide as the scorecard before showing equations or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source: crabtree-effect-model-sketch.html, state and flux diagram updated with glucose and ethanol substrates.</a:t>
            </a:r>
          </a:p>
          <a:p xmlns:a="http://schemas.openxmlformats.org/drawingml/2006/main">
            <a:r>
              <a:t>- Notebook source: crabtree-effect-mdeb-model.ipynb, living structural biomass V and total biomass proxy V(1+x_C).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Emphasize that total biomass and living structural biomass are intentionally separate readouts.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source: crabtree-effect-model-sketch.html, external glucose, ethanol, and oxygen equations.</a:t>
            </a:r>
          </a:p>
          <a:p xmlns:a="http://schemas.openxmlformats.org/drawingml/2006/main">
            <a:r>
              <a:t>- Tang and Riley 2025, bg-22-1809-2025.pdf, reserve dynamics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This slide introduces the diauxic mechanism in the updated HTML: glucose repression is not symmetric competition.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source: crabtree-effect-model-sketch.html, softmax splitter, explicit sigmoid form, and attention analogy.</a:t>
            </a:r>
          </a:p>
          <a:p xmlns:a="http://schemas.openxmlformats.org/drawingml/2006/main">
            <a:r>
              <a:t>- Tang et al. 2021, 2021-8 copy.pdf, Ohm's-law pathway return framing.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The attention analogy is mathematical, not biological: scores become normalized allocation weights; the graph shows the smooth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 source: crabtree-effect-mdeb-model.ipynb, default run outputs and embedded state plot.</a:t>
            </a:r>
          </a:p>
          <a:p xmlns:a="http://schemas.openxmlformats.org/drawingml/2006/main">
            <a:r>
              <a:t>- Model source: crabtree-effect-model-sketch.html, updated ethanol-as-second-substrate equations identify the next implementation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Be explicit that this plot is a structure test, not a finished batch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source: crabtree-effect-model-sketch.html, glucose depletion and ethanol substrate regime.</a:t>
            </a:r>
          </a:p>
          <a:p xmlns:a="http://schemas.openxmlformats.org/drawingml/2006/main">
            <a:r>
              <a:t>- Notebook source: crabtree-effect-mdeb-model.ipynb, mortality and living-versus-total biomass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This slide turns model gaps into testable next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ledger: outputs/crabtree-model-deck-build/source-notes.txt</a:t>
            </a:r>
          </a:p>
          <a:p xmlns:a="http://schemas.openxmlformats.org/drawingml/2006/main">
            <a:r>
              <a:t>- Model source: references/crabtree-effect-model-sketch.html and references/crabtree-effect-mdeb-model.ipynb.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Close by making the next work concrete: implement, constrain, then calibrate.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e1c8535bd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b40006a664e63" /><Relationship Type="http://schemas.openxmlformats.org/officeDocument/2006/relationships/slideLayout" Target="/ppt/slideLayouts/slideLayout1.xml" Id="R7335067b7d344a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5067b7d344a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228547aa74ccf" /><Relationship Type="http://schemas.openxmlformats.org/officeDocument/2006/relationships/notesSlide" Target="/ppt/notesSlides/notesSlide1.xml" Id="Ra614986a72ea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7eda7df0744af" /><Relationship Type="http://schemas.openxmlformats.org/officeDocument/2006/relationships/notesSlide" Target="/ppt/notesSlides/notesSlide2.xml" Id="R26b246d7d6224f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b30dffc044ee" /><Relationship Type="http://schemas.openxmlformats.org/officeDocument/2006/relationships/notesSlide" Target="/ppt/notesSlides/notesSlide3.xml" Id="R3b7e8da18509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7eabd20394c3e" /><Relationship Type="http://schemas.openxmlformats.org/officeDocument/2006/relationships/notesSlide" Target="/ppt/notesSlides/notesSlide4.xml" Id="R4abd435a661e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1477983474898" /><Relationship Type="http://schemas.openxmlformats.org/officeDocument/2006/relationships/notesSlide" Target="/ppt/notesSlides/notesSlide5.xml" Id="Rf54aa239eb6746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eaa189214c19" /><Relationship Type="http://schemas.openxmlformats.org/officeDocument/2006/relationships/notesSlide" Target="/ppt/notesSlides/notesSlide6.xml" Id="Rc7bdd5f8bc0d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2dabbd894636" /><Relationship Type="http://schemas.openxmlformats.org/officeDocument/2006/relationships/chart" Target="/ppt/slides/charts/chart1.xml" Id="R3cccbc6c1c9848f3" /><Relationship Type="http://schemas.openxmlformats.org/officeDocument/2006/relationships/notesSlide" Target="/ppt/notesSlides/notesSlide7.xml" Id="R619b6d8c832c41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6785b4b814003" /><Relationship Type="http://schemas.openxmlformats.org/officeDocument/2006/relationships/image" Target="/ppt/media/image.png" Id="Rf6d30ea3c1974472" /><Relationship Type="http://schemas.openxmlformats.org/officeDocument/2006/relationships/notesSlide" Target="/ppt/notesSlides/notesSlide8.xml" Id="R041dcaf1503447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c26dad14849a5" /><Relationship Type="http://schemas.openxmlformats.org/officeDocument/2006/relationships/notesSlide" Target="/ppt/notesSlides/notesSlide9.xml" Id="R6d35564419a8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71a030354425" /><Relationship Type="http://schemas.openxmlformats.org/officeDocument/2006/relationships/notesSlide" Target="/ppt/notesSlides/notesSlide10.xml" Id="Rf2c7dc902ef34c1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theta_F*</c:v>
          </c:tx>
          <c:spPr>
            <a:ln xmlns:a="http://schemas.openxmlformats.org/drawingml/2006/main" w="28575">
              <a:solidFill>
                <a:srgbClr val="A65F4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3"/>
              <c:pt idx="0">
                <c:v>-6</c:v>
              </c:pt>
              <c:pt idx="1">
                <c:v>-5</c:v>
              </c:pt>
              <c:pt idx="2">
                <c:v>-4</c:v>
              </c:pt>
              <c:pt idx="3">
                <c:v>-3</c:v>
              </c:pt>
              <c:pt idx="4">
                <c:v>-2</c:v>
              </c:pt>
              <c:pt idx="5">
                <c:v>-1</c:v>
              </c:pt>
              <c:pt idx="6">
                <c:v>0</c:v>
              </c:pt>
              <c:pt idx="7">
                <c:v>+1</c:v>
              </c:pt>
              <c:pt idx="8">
                <c:v>+2</c:v>
              </c:pt>
              <c:pt idx="9">
                <c:v>+3</c:v>
              </c:pt>
              <c:pt idx="10">
                <c:v>+4</c:v>
              </c:pt>
              <c:pt idx="11">
                <c:v>+5</c:v>
              </c:pt>
              <c:pt idx="12">
                <c:v>+6</c:v>
              </c:pt>
            </c:numLit>
          </c:cat>
          <c:val>
            <c:numLit>
              <c:formatCode>0%</c:formatCode>
              <c:ptCount val="13"/>
              <c:pt idx="0">
                <c:v>0.0024726231566347743</c:v>
              </c:pt>
              <c:pt idx="1">
                <c:v>0.0066928509242848554</c:v>
              </c:pt>
              <c:pt idx="2">
                <c:v>0.01798620996209156</c:v>
              </c:pt>
              <c:pt idx="3">
                <c:v>0.04742587317756678</c:v>
              </c:pt>
              <c:pt idx="4">
                <c:v>0.11920292202211755</c:v>
              </c:pt>
              <c:pt idx="5">
                <c:v>0.2689414213699951</c:v>
              </c:pt>
              <c:pt idx="6">
                <c:v>0.5</c:v>
              </c:pt>
              <c:pt idx="7">
                <c:v>0.7310585786300049</c:v>
              </c:pt>
              <c:pt idx="8">
                <c:v>0.8807970779778823</c:v>
              </c:pt>
              <c:pt idx="9">
                <c:v>0.9525741268224334</c:v>
              </c:pt>
              <c:pt idx="10">
                <c:v>0.9820137900379085</c:v>
              </c:pt>
              <c:pt idx="11">
                <c:v>0.9933071490757153</c:v>
              </c:pt>
              <c:pt idx="12">
                <c:v>0.9975273768433653</c:v>
              </c:pt>
            </c:numLit>
          </c:val>
        </c:ser>
        <c:ser>
          <c:idx val="1"/>
          <c:order val="1"/>
          <c:tx>
            <c:v>theta_R*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3"/>
              <c:pt idx="0">
                <c:v>-6</c:v>
              </c:pt>
              <c:pt idx="1">
                <c:v>-5</c:v>
              </c:pt>
              <c:pt idx="2">
                <c:v>-4</c:v>
              </c:pt>
              <c:pt idx="3">
                <c:v>-3</c:v>
              </c:pt>
              <c:pt idx="4">
                <c:v>-2</c:v>
              </c:pt>
              <c:pt idx="5">
                <c:v>-1</c:v>
              </c:pt>
              <c:pt idx="6">
                <c:v>0</c:v>
              </c:pt>
              <c:pt idx="7">
                <c:v>+1</c:v>
              </c:pt>
              <c:pt idx="8">
                <c:v>+2</c:v>
              </c:pt>
              <c:pt idx="9">
                <c:v>+3</c:v>
              </c:pt>
              <c:pt idx="10">
                <c:v>+4</c:v>
              </c:pt>
              <c:pt idx="11">
                <c:v>+5</c:v>
              </c:pt>
              <c:pt idx="12">
                <c:v>+6</c:v>
              </c:pt>
            </c:numLit>
          </c:cat>
          <c:val>
            <c:numLit>
              <c:formatCode>0%</c:formatCode>
              <c:ptCount val="13"/>
              <c:pt idx="0">
                <c:v>0.9975273768433652</c:v>
              </c:pt>
              <c:pt idx="1">
                <c:v>0.9933071490757152</c:v>
              </c:pt>
              <c:pt idx="2">
                <c:v>0.9820137900379085</c:v>
              </c:pt>
              <c:pt idx="3">
                <c:v>0.9525741268224333</c:v>
              </c:pt>
              <c:pt idx="4">
                <c:v>0.8807970779778824</c:v>
              </c:pt>
              <c:pt idx="5">
                <c:v>0.7310585786300049</c:v>
              </c:pt>
              <c:pt idx="6">
                <c:v>0.5</c:v>
              </c:pt>
              <c:pt idx="7">
                <c:v>0.2689414213699951</c:v>
              </c:pt>
              <c:pt idx="8">
                <c:v>0.11920292202211769</c:v>
              </c:pt>
              <c:pt idx="9">
                <c:v>0.047425873177566635</c:v>
              </c:pt>
              <c:pt idx="10">
                <c:v>0.01798620996209155</c:v>
              </c:pt>
              <c:pt idx="11">
                <c:v>0.006692850924284732</c:v>
              </c:pt>
              <c:pt idx="12">
                <c:v>0.002472623156634657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000000"/>
                    </a:solidFill>
                  </a:rPr>
                  <a:t>score difference U_F - U_R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4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000000"/>
                    </a:solidFill>
                  </a:rPr>
                  <a:t>allocation weight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00000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000000"/>
              </a:solidFill>
            </a:defRPr>
          </a:pPr>
        </a:p>
      </c:txPr>
    </c:legend>
    <c:plotVisOnly val="1"/>
  </c:chart>
  <c:spPr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E543542-A396-4431-8EC4-7097090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dynamic carbon-allocation model
for aerobic overflow fermentation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066AFCE-EB80-413D-8498-0A9719E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Crabtree effect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C3DFACA-B726-4322-97CE-58E4368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sketch</a:t>
            </a:r>
          </a:p>
        </p:txBody>
      </p:sp>
    </p:spTree>
    <p:extLst>
      <p:ext uri="{BB962C8B-B14F-4D97-AF65-F5344CB8AC3E}">
        <p14:creationId xmlns:p14="http://schemas.microsoft.com/office/powerpoint/2010/main" val="1155397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ADB81D6-FAC9-47B9-BCE4-8FED467D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8913A84-6868-4D05-AC4A-1908BC5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Crabtree effect: ethanol can appear even when oxygen is available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CDDA555-322F-4FE2-8891-5558394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phenotype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glucose pushes Crabtree-positive yeast toward aerobic fermentation, so ethanol accumulates even before oxygen is exhausted.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223CD87-4CCC-4B06-8287-15A04E44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tradeoff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Respiration is high yield; fermentation is lower yield but can be the shorter, faster pathway under high glycolytic supply.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9D22D7E-3B9D-426F-A533-21C99EBF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sequence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drawdown, ethanol overflow, diauxic transition, ethanol use, stationary phase, then loss of viability.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504D0AB-0C77-4DF4-A144-0824010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Modeling task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 both the fast overflow decision and the slower regulatory return to respiratory metabolism.</a:t>
            </a:r>
          </a:p>
        </p:txBody>
      </p:sp>
    </p:spTree>
    <p:extLst>
      <p:ext uri="{BB962C8B-B14F-4D97-AF65-F5344CB8AC3E}">
        <p14:creationId xmlns:p14="http://schemas.microsoft.com/office/powerpoint/2010/main" val="5982473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CFA8E10-3BF5-4F55-BD0E-EB9D83EC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62FD62C-A61F-4C2A-8C0B-A5EE1970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Modeling hypothesis: overflow is a regulated pathway allocation problem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1FA97DA-F232-4A04-ADC7-B0A5A66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Reserve memory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mDEB reserve density x_C separates external glucose history from immediate catabolic supply.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A52F1AD-D46F-4C33-BC92-F2312D91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Pathway economics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Ohm's-law returns compare fermentation and respiration as yield divided by effective resistance.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3429A28-B58F-4FB1-B4A8-59CE7636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Softmax splitter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Pathway scores U_F and U_R become allocation weights theta_F and theta_R, with finite regulatory lag.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219BA28-B192-4EC0-AEE8-581CA067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 substrate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is both product and substrate: glucose represses ethanol uptake until the diauxic phase.</a:t>
            </a:r>
          </a:p>
        </p:txBody>
      </p:sp>
    </p:spTree>
    <p:extLst>
      <p:ext uri="{BB962C8B-B14F-4D97-AF65-F5344CB8AC3E}">
        <p14:creationId xmlns:p14="http://schemas.microsoft.com/office/powerpoint/2010/main" val="11610650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6C02C6-6C3E-4DF9-B285-5604809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Evaluate the model against batch-culture signatures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B59661-F296-4B79-8765-D2D0906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07F99E2F-4F7C-44BD-B04F-7D4DFC75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Evaluation metrics</a:t>
            </a:r>
          </a:p>
          <a:p xmlns:a="http://schemas.openxmlformats.org/drawingml/2006/main">
            <a:pPr algn="l"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The model should be judged by qualitative sequence and quantitative event timing: glucose exhaustion, ethanol peak, oxygen drawdown and recovery, biomass plateau or viability loss, and allocation hysteresis.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11277600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47900"/>
                <a:gridCol w="2190750"/>
                <a:gridCol w="3714750"/>
                <a:gridCol w="3124200"/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Observation target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Expected batch signature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Glucose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depletion time; uptake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Monotone decline during first phase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Constrains uptake and reserve formation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Ethanol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peak; production / use slopes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Accumulation during glucose, decline after diauxic shift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overflow and ethanol-as-substrate dynamics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Dissolved O2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minimum; recovery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Demand can depress O2 but should not require an impossible negative pool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respiratory oxygen limitation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Biomass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living V and total V(1+x_C)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Total biomass plateaus; viable structure may decline later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Separates stationary OD from mortality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Allocation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theta_F timing and hysteresis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High-G fermentation; relaxation after G depletion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dynamic splitter timescale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31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1291217-F740-4F93-B805-2E7D850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621B16-A479-4B93-8E99-EE478024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variables separate reserve, allocation, and biomass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B3741CE-720E-4A8A-95CD-A916539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variables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G: glucose substrate
EtOH: ethanol product and substrate
O2: dissolved oxygen
x_C: internal carbon reserve
V: living structural biomass
theta_F: fermentation allocation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7844DC0-0546-4FFE-A06B-035581C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ver-existing-region">
            <a:extLst xmlns:a="http://schemas.openxmlformats.org/drawingml/2006/main">
              <a:ext uri="{FF2B5EF4-FFF2-40B4-BE49-F238E27FC236}">
                <a16:creationId xmlns:a16="http://schemas.microsoft.com/office/drawing/2014/main" id="{67D8013D-D534-444E-9743-C66249E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809750"/>
            <a:ext cx="5537168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glucose-node">
            <a:extLst xmlns:a="http://schemas.openxmlformats.org/drawingml/2006/main">
              <a:ext uri="{FF2B5EF4-FFF2-40B4-BE49-F238E27FC236}">
                <a16:creationId xmlns:a16="http://schemas.microsoft.com/office/drawing/2014/main" id="{7DA7D3D2-BF2A-4363-97F0-D68E611E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619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Glucose G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primary substrate</a:t>
            </a:r>
          </a:p>
        </p:txBody>
      </p:sp>
      <p:sp>
        <p:nvSpPr>
          <p:cNvPr id="7" name="reserve-node">
            <a:extLst xmlns:a="http://schemas.openxmlformats.org/drawingml/2006/main">
              <a:ext uri="{FF2B5EF4-FFF2-40B4-BE49-F238E27FC236}">
                <a16:creationId xmlns:a16="http://schemas.microsoft.com/office/drawing/2014/main" id="{DDBA6F82-3ED3-4C60-A8F2-2F5B0EB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1619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C reserve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x_C and j_E,C</a:t>
            </a:r>
          </a:p>
        </p:txBody>
      </p:sp>
      <p:sp>
        <p:nvSpPr>
          <p:cNvPr id="8" name="fermentation-node">
            <a:extLst xmlns:a="http://schemas.openxmlformats.org/drawingml/2006/main">
              <a:ext uri="{FF2B5EF4-FFF2-40B4-BE49-F238E27FC236}">
                <a16:creationId xmlns:a16="http://schemas.microsoft.com/office/drawing/2014/main" id="{C024C693-D48C-4769-97E5-103C3FD6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619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Fermentation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ethanol + ATP</a:t>
            </a:r>
          </a:p>
        </p:txBody>
      </p:sp>
      <p:sp>
        <p:nvSpPr>
          <p:cNvPr id="9" name="respiration-node">
            <a:extLst xmlns:a="http://schemas.openxmlformats.org/drawingml/2006/main">
              <a:ext uri="{FF2B5EF4-FFF2-40B4-BE49-F238E27FC236}">
                <a16:creationId xmlns:a16="http://schemas.microsoft.com/office/drawing/2014/main" id="{3522E971-9E9E-4085-9746-2173338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1762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Respiration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ATP + O2 demand</a:t>
            </a:r>
          </a:p>
        </p:txBody>
      </p:sp>
      <p:sp>
        <p:nvSpPr>
          <p:cNvPr id="10" name="ethanol-node">
            <a:extLst xmlns:a="http://schemas.openxmlformats.org/drawingml/2006/main">
              <a:ext uri="{FF2B5EF4-FFF2-40B4-BE49-F238E27FC236}">
                <a16:creationId xmlns:a16="http://schemas.microsoft.com/office/drawing/2014/main" id="{96EB960F-0F06-4B79-989F-17E157B9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76750"/>
            <a:ext cx="1619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Ethanol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product, then substrate</a:t>
            </a:r>
          </a:p>
        </p:txBody>
      </p:sp>
      <p:sp>
        <p:nvSpPr>
          <p:cNvPr id="11" name="biomass-node">
            <a:extLst xmlns:a="http://schemas.openxmlformats.org/drawingml/2006/main">
              <a:ext uri="{FF2B5EF4-FFF2-40B4-BE49-F238E27FC236}">
                <a16:creationId xmlns:a16="http://schemas.microsoft.com/office/drawing/2014/main" id="{2E41AB48-71BD-428A-A63A-4561F804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0"/>
            <a:ext cx="1762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Living V</a:t>
            </a:r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growth minus mortality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96250" y="2324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286750" y="2695575"/>
            <a:ext cx="1047750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A65F4A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144125" y="2324100"/>
            <a:ext cx="309563" cy="819150"/>
          </a:xfrm>
          <a:prstGeom xmlns:a="http://schemas.openxmlformats.org/drawingml/2006/main" prst="bentConnector2">
            <a:avLst/>
          </a:prstGeom>
          <a:ln xmlns:a="http://schemas.openxmlformats.org/drawingml/2006/main" w="2286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28675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5F4A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453688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096375" y="3514725"/>
            <a:ext cx="476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5F4A"/>
            </a:solidFill>
            <a:prstDash val="solid"/>
            <a:tailEnd type="arrow" w="sm" len="sm"/>
          </a:ln>
        </p:spPr>
      </p:cxnSp>
      <p:sp>
        <p:nvSpPr>
          <p:cNvPr id="18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3996EF38-4B93-4E02-A05D-C882D78F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Glucose drives overflow fermentation; ethanol can later feed respiration when glucose repression weakens.</a:t>
            </a:r>
          </a:p>
        </p:txBody>
      </p:sp>
    </p:spTree>
    <p:extLst>
      <p:ext uri="{BB962C8B-B14F-4D97-AF65-F5344CB8AC3E}">
        <p14:creationId xmlns:p14="http://schemas.microsoft.com/office/powerpoint/2010/main" val="7266736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F0E9CFB-2AC5-42B2-9018-8484F58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EF13B16-4758-4EF9-A457-ACA194DC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feeds reserve; ethanol feeds oxygen-dependent respiration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23429D0-C995-498C-B018-50C621E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reserve input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j_A,G = j_G,max G/(K_G + G)
 dx_C/dt = j_A,G - j_E,C - mu x_C
 j_E,C = v_E,C x_C/(K_E,C + x_C)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DBA3BF7-8A1A-4AC2-8C45-0D20BA3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substrate gate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I_G(G) = 1/(1 + (G/K_G,E)^n)
 j_A,EtOH = j_EtOH,max EtOH/(K_EtOH+EtOH) * O2/(K_O,EtOH+O2) * I_G
Ethanol uptake is weak while glucose is high.</a:t>
            </a:r>
          </a:p>
        </p:txBody>
      </p:sp>
    </p:spTree>
    <p:extLst>
      <p:ext uri="{BB962C8B-B14F-4D97-AF65-F5344CB8AC3E}">
        <p14:creationId xmlns:p14="http://schemas.microsoft.com/office/powerpoint/2010/main" val="17493387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59BFA0-E72D-4D21-B18A-8994B10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Softmax weights make the pathway switch continuous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2D9D2E-9714-4929-B1D1-571174A9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pathway-scores-title">
            <a:extLst xmlns:a="http://schemas.openxmlformats.org/drawingml/2006/main">
              <a:ext uri="{FF2B5EF4-FFF2-40B4-BE49-F238E27FC236}">
                <a16:creationId xmlns:a16="http://schemas.microsoft.com/office/drawing/2014/main" id="{63F7E851-38E3-4963-BD85-E4D9A7D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Pathway scores</a:t>
            </a:r>
          </a:p>
        </p:txBody>
      </p:sp>
      <p:sp>
        <p:nvSpPr>
          <p:cNvPr id="4" name="pathway-scores-body">
            <a:extLst xmlns:a="http://schemas.openxmlformats.org/drawingml/2006/main">
              <a:ext uri="{FF2B5EF4-FFF2-40B4-BE49-F238E27FC236}">
                <a16:creationId xmlns:a16="http://schemas.microsoft.com/office/drawing/2014/main" id="{0D781721-7F2B-4ACB-AB3C-C4A203B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5381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Pi_F = Y_ATP,F/(1/f_G + r_F)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Pi_R = Y_ATP,R/(1/f_G + r_TCA + r_ETC + 1/f_O2)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U_F = beta Pi_F + beta_a ln(a_G/a_C)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U_R = beta Pi_R</a:t>
            </a:r>
          </a:p>
        </p:txBody>
      </p:sp>
      <p:sp>
        <p:nvSpPr>
          <p:cNvPr id="5" name="allocation-rule-title">
            <a:extLst xmlns:a="http://schemas.openxmlformats.org/drawingml/2006/main">
              <a:ext uri="{FF2B5EF4-FFF2-40B4-BE49-F238E27FC236}">
                <a16:creationId xmlns:a16="http://schemas.microsoft.com/office/drawing/2014/main" id="{9C044B7E-7714-4831-AAFB-DD95BE3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Softmax allocation</a:t>
            </a:r>
          </a:p>
        </p:txBody>
      </p:sp>
      <p:sp>
        <p:nvSpPr>
          <p:cNvPr id="6" name="allocation-rule-body">
            <a:extLst xmlns:a="http://schemas.openxmlformats.org/drawingml/2006/main">
              <a:ext uri="{FF2B5EF4-FFF2-40B4-BE49-F238E27FC236}">
                <a16:creationId xmlns:a16="http://schemas.microsoft.com/office/drawing/2014/main" id="{A23D32C8-DF3C-4A1C-855F-D145B94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5381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theta_i* = exp(U_i) / [exp(U_F)+exp(U_R)]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theta_F* = 1 / [1 + exp(-(U_F - U_R))]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dtheta_F/dt = (theta_F* - theta_F)/tau_reg</a:t>
            </a:r>
          </a:p>
        </p:txBody>
      </p:sp>
      <p:sp>
        <p:nvSpPr>
          <p:cNvPr id="7" name="softmax-graph-title">
            <a:extLst xmlns:a="http://schemas.openxmlformats.org/drawingml/2006/main">
              <a:ext uri="{FF2B5EF4-FFF2-40B4-BE49-F238E27FC236}">
                <a16:creationId xmlns:a16="http://schemas.microsoft.com/office/drawing/2014/main" id="{467D1FE7-9327-4E1C-8860-C2D31B37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Transition captured by softmax</a:t>
            </a:r>
          </a:p>
        </p:txBody>
      </p:sp>
      <p:sp>
        <p:nvSpPr>
          <p:cNvPr id="8" name="softmax-graph-caption">
            <a:extLst xmlns:a="http://schemas.openxmlformats.org/drawingml/2006/main">
              <a:ext uri="{FF2B5EF4-FFF2-40B4-BE49-F238E27FC236}">
                <a16:creationId xmlns:a16="http://schemas.microsoft.com/office/drawing/2014/main" id="{95CDB969-4CFB-4530-BF63-5245B79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When U_F - U_R crosses zero, allocation shifts smoothly from respiration to fermentation.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419850" y="2809875"/>
          <a:ext xmlns:a="http://schemas.openxmlformats.org/drawingml/2006/main" cx="528637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ccbc6c1c9848f3"/>
          </a:graphicData>
        </a:graphic>
      </p:graphicFrame>
      <p:sp>
        <p:nvSpPr>
          <p:cNvPr id="10" name="softmax-threshold-note">
            <a:extLst xmlns:a="http://schemas.openxmlformats.org/drawingml/2006/main">
              <a:ext uri="{FF2B5EF4-FFF2-40B4-BE49-F238E27FC236}">
                <a16:creationId xmlns:a16="http://schemas.microsoft.com/office/drawing/2014/main" id="{67CC989D-687B-42AE-9986-58F6224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531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At equal scores: theta_F* = theta_R* = 0.5</a:t>
            </a:r>
          </a:p>
        </p:txBody>
      </p:sp>
    </p:spTree>
    <p:extLst>
      <p:ext uri="{BB962C8B-B14F-4D97-AF65-F5344CB8AC3E}">
        <p14:creationId xmlns:p14="http://schemas.microsoft.com/office/powerpoint/2010/main" val="8373882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079716-836E-40DC-B63B-EC7586DA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Notebook run captures overflow, not diauxic ethanol use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E40DED-1105-4F8E-A31D-BE6AF34F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3" name="state-plot-frame">
            <a:extLst xmlns:a="http://schemas.openxmlformats.org/drawingml/2006/main">
              <a:ext uri="{FF2B5EF4-FFF2-40B4-BE49-F238E27FC236}">
                <a16:creationId xmlns:a16="http://schemas.microsoft.com/office/drawing/2014/main" id="{B2E96C6E-BC01-4A74-A22E-B574DF9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4292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30ea3c1974472"/>
          <a:stretch xmlns:a="http://schemas.openxmlformats.org/drawingml/2006/main"/>
        </p:blipFill>
        <p:spPr>
          <a:xfrm xmlns:a="http://schemas.openxmlformats.org/drawingml/2006/main">
            <a:off x="766661" y="1590675"/>
            <a:ext cx="4734128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overflow-card-surface">
            <a:extLst xmlns:a="http://schemas.openxmlformats.org/drawingml/2006/main">
              <a:ext uri="{FF2B5EF4-FFF2-40B4-BE49-F238E27FC236}">
                <a16:creationId xmlns:a16="http://schemas.microsoft.com/office/drawing/2014/main" id="{BCA7EAA2-C53F-4095-9313-8B7D886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1504950"/>
            <a:ext cx="553393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overflow-card-text">
            <a:extLst xmlns:a="http://schemas.openxmlformats.org/drawingml/2006/main">
              <a:ext uri="{FF2B5EF4-FFF2-40B4-BE49-F238E27FC236}">
                <a16:creationId xmlns:a16="http://schemas.microsoft.com/office/drawing/2014/main" id="{F9C769C1-2E63-4B5A-AEA1-239FDD88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52" y="1771650"/>
            <a:ext cx="496243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Overflow appears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theta_F peaks near 0.97 and ethanol peaks near 40.5 in the illustrative high-glucose pulse.</a:t>
            </a:r>
          </a:p>
        </p:txBody>
      </p:sp>
      <p:sp>
        <p:nvSpPr>
          <p:cNvPr id="7" name="biomass-card-surface">
            <a:extLst xmlns:a="http://schemas.openxmlformats.org/drawingml/2006/main">
              <a:ext uri="{FF2B5EF4-FFF2-40B4-BE49-F238E27FC236}">
                <a16:creationId xmlns:a16="http://schemas.microsoft.com/office/drawing/2014/main" id="{04A2D35A-1E45-41CE-B504-1D69504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105150"/>
            <a:ext cx="553393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biomass-card-text">
            <a:extLst xmlns:a="http://schemas.openxmlformats.org/drawingml/2006/main">
              <a:ext uri="{FF2B5EF4-FFF2-40B4-BE49-F238E27FC236}">
                <a16:creationId xmlns:a16="http://schemas.microsoft.com/office/drawing/2014/main" id="{45759E34-9BD2-4C35-B522-93DB4D7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52" y="3371850"/>
            <a:ext cx="496243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Biomass distinction matters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Total biomass V(1+x_C) peaks at 10.75 while living structural V peaks at 3.45.</a:t>
            </a:r>
          </a:p>
        </p:txBody>
      </p:sp>
      <p:sp>
        <p:nvSpPr>
          <p:cNvPr id="9" name="gap-card-surface">
            <a:extLst xmlns:a="http://schemas.openxmlformats.org/drawingml/2006/main">
              <a:ext uri="{FF2B5EF4-FFF2-40B4-BE49-F238E27FC236}">
                <a16:creationId xmlns:a16="http://schemas.microsoft.com/office/drawing/2014/main" id="{4F8C539E-D2F4-4544-9B25-4C47FED2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705350"/>
            <a:ext cx="553393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gap-card-text">
            <a:extLst xmlns:a="http://schemas.openxmlformats.org/drawingml/2006/main">
              <a:ext uri="{FF2B5EF4-FFF2-40B4-BE49-F238E27FC236}">
                <a16:creationId xmlns:a16="http://schemas.microsoft.com/office/drawing/2014/main" id="{0A3B29BF-A004-4766-A911-AB8DD47B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52" y="4972050"/>
            <a:ext cx="496243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Known gap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 notebook trajectory still lacks oxygen-limited ethanol uptake after glucose depletion.</a:t>
            </a:r>
          </a:p>
        </p:txBody>
      </p:sp>
    </p:spTree>
    <p:extLst>
      <p:ext uri="{BB962C8B-B14F-4D97-AF65-F5344CB8AC3E}">
        <p14:creationId xmlns:p14="http://schemas.microsoft.com/office/powerpoint/2010/main" val="14341788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30AFA7-6BC2-4BBE-A5FD-FBAD6F2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1D6DE98-D253-432A-AC4D-F320220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realistic batch fit should reproduce the full diauxic sequence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565A3A7-9CCA-4AE7-9994-8DE9719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36A7CD5-4A70-4773-A4DD-621505E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1743105-D5AF-4016-B628-53DB3D9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8E51A34-1ACA-4784-9718-CD57FE4A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phase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130541F-3236-4675-B5DC-D9FA4104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Diauxic switch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A4C789B-72AF-4D7B-A79E-BD96653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Stationary / death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EDC2753-1CC5-4C31-9740-048BDC3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use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repression relaxes; ethanol uptake and respiration require O2.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0D8135B-FA29-4D87-B54D-F36E2712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Overflow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G drives theta_F upward; ethanol accumulates while glucose is consumed.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A6EE143-E2FD-46FE-A14A-025A93C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Biomass readout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biomass can plateau while living V declines under maintenance deficit.</a:t>
            </a:r>
          </a:p>
        </p:txBody>
      </p:sp>
    </p:spTree>
    <p:extLst>
      <p:ext uri="{BB962C8B-B14F-4D97-AF65-F5344CB8AC3E}">
        <p14:creationId xmlns:p14="http://schemas.microsoft.com/office/powerpoint/2010/main" val="8908888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6820645-9D18-4F32-9C62-93DFD083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sketch as a falsifiable batch model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9D7FC61-69C6-4377-B8A5-50C88EAF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 ethanol uptake</a:t>
            </a:r>
          </a:p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 respiratory O2 demand</a:t>
            </a:r>
          </a:p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Fit the batch metrics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C0793FB-D6F2-4A43-85EC-6178CB4D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99617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2026-07-27T17:49:32.5560000Z</dcterms:created>
  <dcterms:modified xsi:type="dcterms:W3CDTF">2026-07-27T17:49:32.5560000Z</dcterms:modified>
</coreProperties>
</file>
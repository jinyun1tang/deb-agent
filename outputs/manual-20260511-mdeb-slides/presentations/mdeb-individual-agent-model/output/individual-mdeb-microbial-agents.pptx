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59"/>
  </p:normalViewPr>
  <p:slideViewPr>
    <p:cSldViewPr snapToGrid="0">
      <p:cViewPr varScale="1">
        <p:scale>
          <a:sx n="136" d="100"/>
          <a:sy n="136" d="100"/>
        </p:scale>
        <p:origin x="216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background">
            <a:extLst>
              <a:ext uri="{FF2B5EF4-FFF2-40B4-BE49-F238E27FC236}">
                <a16:creationId xmlns:a16="http://schemas.microsoft.com/office/drawing/2014/main" id="{82922231-A6E9-4195-9627-C6FC8F12E6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0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58509B-1F78-4491-B95B-8B2BD4C70F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095750" cy="6858000"/>
          </a:xfrm>
          <a:prstGeom prst="rect">
            <a:avLst/>
          </a:prstGeom>
          <a:solidFill>
            <a:srgbClr val="1420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DEE379-15F9-48D6-800C-1AD531293BB6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57150" cy="685800"/>
          </a:xfrm>
          <a:prstGeom prst="rect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DE79ED-254C-4EC2-AB5D-A69CBEB2104C}"/>
              </a:ext>
            </a:extLst>
          </p:cNvPr>
          <p:cNvSpPr>
            <a:spLocks noGrp="1"/>
          </p:cNvSpPr>
          <p:nvPr/>
        </p:nvSpPr>
        <p:spPr>
          <a:xfrm>
            <a:off x="781050" y="57150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C8D8CE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dirty="0" err="1">
                <a:solidFill>
                  <a:srgbClr val="C8D8CE"/>
                </a:solidFill>
                <a:latin typeface="Avenir Next"/>
                <a:ea typeface="Avenir Next"/>
                <a:cs typeface="Avenir Next"/>
              </a:rPr>
              <a:t>mDEB</a:t>
            </a:r>
            <a:r>
              <a:rPr sz="1200" b="1" dirty="0">
                <a:solidFill>
                  <a:srgbClr val="C8D8CE"/>
                </a:solidFill>
                <a:latin typeface="Avenir Next"/>
                <a:ea typeface="Avenir Next"/>
                <a:cs typeface="Avenir Next"/>
              </a:rPr>
              <a:t> MICROBIAL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2BE7C9-F83D-4C9C-A631-5F29C22DD12D}"/>
              </a:ext>
            </a:extLst>
          </p:cNvPr>
          <p:cNvSpPr>
            <a:spLocks noGrp="1"/>
          </p:cNvSpPr>
          <p:nvPr/>
        </p:nvSpPr>
        <p:spPr>
          <a:xfrm>
            <a:off x="781050" y="8382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E8DDCD"/>
                </a:solidFill>
                <a:latin typeface="Avenir Next"/>
                <a:ea typeface="Avenir Next"/>
                <a:cs typeface="Avenir Next"/>
              </a:defRPr>
            </a:pPr>
            <a:r>
              <a:rPr sz="1100" b="0" dirty="0">
                <a:solidFill>
                  <a:srgbClr val="E8DDCD"/>
                </a:solidFill>
                <a:latin typeface="Avenir Next"/>
                <a:ea typeface="Avenir Next"/>
                <a:cs typeface="Avenir Next"/>
              </a:rPr>
              <a:t>From bulk rates to stateful cells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6C81ED-B350-4511-8779-3F953CF5901C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3067050" cy="2133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9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Individual mDEB makes microbes chemically stateful.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8767CD-8B3F-43D5-9F93-2D8E57ACD79A}"/>
              </a:ext>
            </a:extLst>
          </p:cNvPr>
          <p:cNvSpPr>
            <a:spLocks noGrp="1"/>
          </p:cNvSpPr>
          <p:nvPr/>
        </p:nvSpPr>
        <p:spPr>
          <a:xfrm>
            <a:off x="590550" y="4514850"/>
            <a:ext cx="2781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8D8C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dirty="0">
                <a:solidFill>
                  <a:srgbClr val="C8D8CE"/>
                </a:solidFill>
                <a:latin typeface="Avenir Next"/>
                <a:ea typeface="Avenir Next"/>
                <a:cs typeface="Avenir Next"/>
              </a:rPr>
              <a:t>A source-backed concept deck from the two markdown notes in references.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924ACD-4C6D-4110-B8C1-D1A0B7E33399}"/>
              </a:ext>
            </a:extLst>
          </p:cNvPr>
          <p:cNvSpPr>
            <a:spLocks noGrp="1"/>
          </p:cNvSpPr>
          <p:nvPr/>
        </p:nvSpPr>
        <p:spPr>
          <a:xfrm>
            <a:off x="4953000" y="914400"/>
            <a:ext cx="552450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455BC8-07CD-4059-A057-FCEC09A4F8E9}"/>
              </a:ext>
            </a:extLst>
          </p:cNvPr>
          <p:cNvSpPr>
            <a:spLocks noGrp="1"/>
          </p:cNvSpPr>
          <p:nvPr/>
        </p:nvSpPr>
        <p:spPr>
          <a:xfrm>
            <a:off x="4953000" y="11239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58735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58735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0E6625-7810-462E-92D9-28D3513E9381}"/>
              </a:ext>
            </a:extLst>
          </p:cNvPr>
          <p:cNvSpPr>
            <a:spLocks noGrp="1"/>
          </p:cNvSpPr>
          <p:nvPr/>
        </p:nvSpPr>
        <p:spPr>
          <a:xfrm>
            <a:off x="5676900" y="11430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dirty="0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Physiology engine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0738FA-00FC-4FE6-BEC9-49916F31482F}"/>
              </a:ext>
            </a:extLst>
          </p:cNvPr>
          <p:cNvSpPr>
            <a:spLocks noGrp="1"/>
          </p:cNvSpPr>
          <p:nvPr/>
        </p:nvSpPr>
        <p:spPr>
          <a:xfrm>
            <a:off x="5676900" y="1447800"/>
            <a:ext cx="4248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dirty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Reserve mobilization is explicit, so each cell can grow from its own C/N history.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C2937D-09CB-4540-8438-275415B7B2CF}"/>
              </a:ext>
            </a:extLst>
          </p:cNvPr>
          <p:cNvSpPr>
            <a:spLocks noGrp="1"/>
          </p:cNvSpPr>
          <p:nvPr/>
        </p:nvSpPr>
        <p:spPr>
          <a:xfrm>
            <a:off x="4953000" y="2324100"/>
            <a:ext cx="552450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78D827-E60A-482B-95FB-20F4C838A476}"/>
              </a:ext>
            </a:extLst>
          </p:cNvPr>
          <p:cNvSpPr>
            <a:spLocks noGrp="1"/>
          </p:cNvSpPr>
          <p:nvPr/>
        </p:nvSpPr>
        <p:spPr>
          <a:xfrm>
            <a:off x="4953000" y="25336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B96E3B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B96E3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954E54-954F-442F-95E6-F1156B19CED3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Agent events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E2D0FE-2BC8-470C-8BA8-884C9CCF2DAE}"/>
              </a:ext>
            </a:extLst>
          </p:cNvPr>
          <p:cNvSpPr>
            <a:spLocks noGrp="1"/>
          </p:cNvSpPr>
          <p:nvPr/>
        </p:nvSpPr>
        <p:spPr>
          <a:xfrm>
            <a:off x="5676900" y="2857500"/>
            <a:ext cx="4248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dirty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Division, death, dormancy, lysis, plasticity, and mutation become population dynamics.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40C117-CDC8-41B5-B120-2A0C6BC7A7C9}"/>
              </a:ext>
            </a:extLst>
          </p:cNvPr>
          <p:cNvSpPr>
            <a:spLocks noGrp="1"/>
          </p:cNvSpPr>
          <p:nvPr/>
        </p:nvSpPr>
        <p:spPr>
          <a:xfrm>
            <a:off x="4953000" y="3733800"/>
            <a:ext cx="552450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69FC34-27B2-4676-B569-9D0F695D40D0}"/>
              </a:ext>
            </a:extLst>
          </p:cNvPr>
          <p:cNvSpPr>
            <a:spLocks noGrp="1"/>
          </p:cNvSpPr>
          <p:nvPr/>
        </p:nvSpPr>
        <p:spPr>
          <a:xfrm>
            <a:off x="4953000" y="39433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58735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58735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07BC08-A4BC-444A-B28B-9A843FFB27F4}"/>
              </a:ext>
            </a:extLst>
          </p:cNvPr>
          <p:cNvSpPr>
            <a:spLocks noGrp="1"/>
          </p:cNvSpPr>
          <p:nvPr/>
        </p:nvSpPr>
        <p:spPr>
          <a:xfrm>
            <a:off x="5676900" y="39624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Microfluidics fit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279EEB-5A63-47EF-977B-E38BC8046E2F}"/>
              </a:ext>
            </a:extLst>
          </p:cNvPr>
          <p:cNvSpPr>
            <a:spLocks noGrp="1"/>
          </p:cNvSpPr>
          <p:nvPr/>
        </p:nvSpPr>
        <p:spPr>
          <a:xfrm>
            <a:off x="5676900" y="4267200"/>
            <a:ext cx="4248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dirty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Lineage-resolved observations give the hidden-state model a real calibration target.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DD8B8E-7B89-4F23-93D0-8DDAEAA10701}"/>
              </a:ext>
            </a:extLst>
          </p:cNvPr>
          <p:cNvSpPr>
            <a:spLocks noGrp="1"/>
          </p:cNvSpPr>
          <p:nvPr/>
        </p:nvSpPr>
        <p:spPr>
          <a:xfrm>
            <a:off x="7810500" y="5334000"/>
            <a:ext cx="3257550" cy="819150"/>
          </a:xfrm>
          <a:prstGeom prst="rect">
            <a:avLst/>
          </a:prstGeom>
          <a:solidFill>
            <a:srgbClr val="34483B"/>
          </a:solidFill>
          <a:ln w="9525">
            <a:solidFill>
              <a:srgbClr val="34483B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A78F58-5969-4648-8ABF-98BDEEC44701}"/>
              </a:ext>
            </a:extLst>
          </p:cNvPr>
          <p:cNvSpPr>
            <a:spLocks noGrp="1"/>
          </p:cNvSpPr>
          <p:nvPr/>
        </p:nvSpPr>
        <p:spPr>
          <a:xfrm>
            <a:off x="7981950" y="5486400"/>
            <a:ext cx="2914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1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Deck claim: the first build should prove aggregate </a:t>
            </a:r>
            <a:r>
              <a:rPr sz="1100" b="1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mDEB</a:t>
            </a:r>
            <a:r>
              <a:rPr sz="11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equivalence, then use microfluidics to test reserve-memory behavior.</a:t>
            </a:r>
          </a:p>
        </p:txBody>
      </p:sp>
      <p:sp>
        <p:nvSpPr>
          <p:cNvPr id="22" name="footer-rule">
            <a:extLst>
              <a:ext uri="{FF2B5EF4-FFF2-40B4-BE49-F238E27FC236}">
                <a16:creationId xmlns:a16="http://schemas.microsoft.com/office/drawing/2014/main" id="{3B7A7FE7-FD59-4B12-BB60-DC58E661123E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footer-source">
            <a:extLst>
              <a:ext uri="{FF2B5EF4-FFF2-40B4-BE49-F238E27FC236}">
                <a16:creationId xmlns:a16="http://schemas.microsoft.com/office/drawing/2014/main" id="{5D283559-C4C0-4C54-8133-66C3B6F215D0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Sources: agent-based microbial mDEB and microfluidics fitting brainstorm markdown files</a:t>
            </a:r>
          </a:p>
        </p:txBody>
      </p:sp>
      <p:sp>
        <p:nvSpPr>
          <p:cNvPr id="24" name="footer-page">
            <a:extLst>
              <a:ext uri="{FF2B5EF4-FFF2-40B4-BE49-F238E27FC236}">
                <a16:creationId xmlns:a16="http://schemas.microsoft.com/office/drawing/2014/main" id="{539D2398-2AAC-461A-93F2-092E9DAB596A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5716C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5716C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C0F50F3-D3CD-3BB6-DEFD-1BA39F34E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4667251"/>
            <a:ext cx="7248744" cy="219075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9BD322A-FE7E-7747-EE75-323C634417C8}"/>
              </a:ext>
            </a:extLst>
          </p:cNvPr>
          <p:cNvSpPr txBox="1"/>
          <p:nvPr/>
        </p:nvSpPr>
        <p:spPr>
          <a:xfrm>
            <a:off x="5184742" y="5637229"/>
            <a:ext cx="2230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 reduction &gt; 70%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E55BA01-4714-207F-0FB1-7AFA0336F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700" y="3214687"/>
            <a:ext cx="3886200" cy="14859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BCE8F69-9D21-A6BE-91A5-4892290947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5615" y="4062134"/>
            <a:ext cx="6985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50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background">
            <a:extLst>
              <a:ext uri="{FF2B5EF4-FFF2-40B4-BE49-F238E27FC236}">
                <a16:creationId xmlns:a16="http://schemas.microsoft.com/office/drawing/2014/main" id="{817A0376-4478-48CF-A8C1-FE0D1FADCE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0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9A6A4904-1D48-45CE-972C-A59341025580}"/>
              </a:ext>
            </a:extLst>
          </p:cNvPr>
          <p:cNvSpPr>
            <a:spLocks noGrp="1"/>
          </p:cNvSpPr>
          <p:nvPr/>
        </p:nvSpPr>
        <p:spPr>
          <a:xfrm>
            <a:off x="552450" y="485775"/>
            <a:ext cx="114300" cy="114300"/>
          </a:xfrm>
          <a:prstGeom prst="rect">
            <a:avLst/>
          </a:prstGeom>
          <a:solidFill>
            <a:srgbClr val="B96E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1AF6D9FF-F4D4-4075-820C-0A170F0F2D04}"/>
              </a:ext>
            </a:extLst>
          </p:cNvPr>
          <p:cNvSpPr>
            <a:spLocks noGrp="1"/>
          </p:cNvSpPr>
          <p:nvPr/>
        </p:nvSpPr>
        <p:spPr>
          <a:xfrm>
            <a:off x="781050" y="4381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M O D E L   S H I F 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84E059-32D6-4090-8351-026638426F5D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572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The model replaces memoryless growth particles with stateful cells.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C37688-9572-4D31-8FEB-33CF77C06A04}"/>
              </a:ext>
            </a:extLst>
          </p:cNvPr>
          <p:cNvSpPr>
            <a:spLocks noGrp="1"/>
          </p:cNvSpPr>
          <p:nvPr/>
        </p:nvSpPr>
        <p:spPr>
          <a:xfrm>
            <a:off x="742950" y="1962150"/>
            <a:ext cx="4095750" cy="36576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AD0935-41D7-469E-B1EC-C77A41ACC298}"/>
              </a:ext>
            </a:extLst>
          </p:cNvPr>
          <p:cNvSpPr>
            <a:spLocks noGrp="1"/>
          </p:cNvSpPr>
          <p:nvPr/>
        </p:nvSpPr>
        <p:spPr>
          <a:xfrm>
            <a:off x="6896100" y="1962149"/>
            <a:ext cx="4095750" cy="3657599"/>
          </a:xfrm>
          <a:prstGeom prst="rect">
            <a:avLst/>
          </a:prstGeom>
          <a:solidFill>
            <a:srgbClr val="EEE4D6"/>
          </a:solidFill>
          <a:ln w="9525">
            <a:solidFill>
              <a:srgbClr val="58735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BDD2D4-9EA2-4BF6-9FB9-2A9DD9420F9C}"/>
              </a:ext>
            </a:extLst>
          </p:cNvPr>
          <p:cNvSpPr>
            <a:spLocks noGrp="1"/>
          </p:cNvSpPr>
          <p:nvPr/>
        </p:nvSpPr>
        <p:spPr>
          <a:xfrm>
            <a:off x="1009650" y="217170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1100" b="1" dirty="0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BULK OR MONOD-STYLE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7CF9D0-C9A6-45C0-83A9-CAA0AAB1D591}"/>
              </a:ext>
            </a:extLst>
          </p:cNvPr>
          <p:cNvSpPr>
            <a:spLocks noGrp="1"/>
          </p:cNvSpPr>
          <p:nvPr/>
        </p:nvSpPr>
        <p:spPr>
          <a:xfrm>
            <a:off x="1009650" y="2476500"/>
            <a:ext cx="3143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725" b="1" dirty="0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Response is mostly tied to current external substrate.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0CE6EF-E5B7-406C-AB2C-6B81B3B6032E}"/>
              </a:ext>
            </a:extLst>
          </p:cNvPr>
          <p:cNvSpPr>
            <a:spLocks noGrp="1"/>
          </p:cNvSpPr>
          <p:nvPr/>
        </p:nvSpPr>
        <p:spPr>
          <a:xfrm>
            <a:off x="1009650" y="3200400"/>
            <a:ext cx="32766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1100" b="0" dirty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Useful for aggregate growth curves, but weak on lineage memory, delayed recovery, reserve imbalance, and single-cell divergence.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CC553-56AC-4364-B3EF-375B17AED559}"/>
              </a:ext>
            </a:extLst>
          </p:cNvPr>
          <p:cNvSpPr>
            <a:spLocks noGrp="1"/>
          </p:cNvSpPr>
          <p:nvPr/>
        </p:nvSpPr>
        <p:spPr>
          <a:xfrm>
            <a:off x="7162800" y="2171700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8735F"/>
                </a:solidFill>
                <a:latin typeface="Avenir Next"/>
                <a:ea typeface="Avenir Next"/>
                <a:cs typeface="Avenir Next"/>
              </a:defRPr>
            </a:pPr>
            <a:r>
              <a:rPr sz="1100" b="1" dirty="0">
                <a:solidFill>
                  <a:srgbClr val="58735F"/>
                </a:solidFill>
                <a:latin typeface="Avenir Next"/>
                <a:ea typeface="Avenir Next"/>
                <a:cs typeface="Avenir Next"/>
              </a:rPr>
              <a:t>INDIVIDUAL </a:t>
            </a:r>
            <a:r>
              <a:rPr sz="1100" b="1" dirty="0" err="1">
                <a:solidFill>
                  <a:srgbClr val="58735F"/>
                </a:solidFill>
                <a:latin typeface="Avenir Next"/>
                <a:ea typeface="Avenir Next"/>
                <a:cs typeface="Avenir Next"/>
              </a:rPr>
              <a:t>mDEB</a:t>
            </a:r>
            <a:r>
              <a:rPr sz="1100" b="1" dirty="0">
                <a:solidFill>
                  <a:srgbClr val="58735F"/>
                </a:solidFill>
                <a:latin typeface="Avenir Next"/>
                <a:ea typeface="Avenir Next"/>
                <a:cs typeface="Avenir Next"/>
              </a:rPr>
              <a:t> AGENTS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C1B119-76E6-4DCD-A850-C2A2848670D1}"/>
              </a:ext>
            </a:extLst>
          </p:cNvPr>
          <p:cNvSpPr>
            <a:spLocks noGrp="1"/>
          </p:cNvSpPr>
          <p:nvPr/>
        </p:nvSpPr>
        <p:spPr>
          <a:xfrm>
            <a:off x="7162800" y="2476500"/>
            <a:ext cx="3238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Each cell carries reserves, structure, traits, and history.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416C4F-D73F-4998-8923-33CA5575E3DE}"/>
              </a:ext>
            </a:extLst>
          </p:cNvPr>
          <p:cNvSpPr>
            <a:spLocks noGrp="1"/>
          </p:cNvSpPr>
          <p:nvPr/>
        </p:nvSpPr>
        <p:spPr>
          <a:xfrm>
            <a:off x="7162800" y="3276600"/>
            <a:ext cx="32766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1100" b="0" dirty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The same substrate pulse can produce different growth, division, dormancy, or recovery outcomes across cells.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546AAB-2225-48BB-BD19-396682CB68B8}"/>
              </a:ext>
            </a:extLst>
          </p:cNvPr>
          <p:cNvSpPr>
            <a:spLocks noGrp="1"/>
          </p:cNvSpPr>
          <p:nvPr/>
        </p:nvSpPr>
        <p:spPr>
          <a:xfrm>
            <a:off x="5048250" y="3590925"/>
            <a:ext cx="1524000" cy="19050"/>
          </a:xfrm>
          <a:prstGeom prst="rect">
            <a:avLst/>
          </a:prstGeom>
          <a:solidFill>
            <a:srgbClr val="B96E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FDD177-2776-43BF-8CB6-93A23CCBA608}"/>
              </a:ext>
            </a:extLst>
          </p:cNvPr>
          <p:cNvSpPr>
            <a:spLocks noGrp="1"/>
          </p:cNvSpPr>
          <p:nvPr/>
        </p:nvSpPr>
        <p:spPr>
          <a:xfrm>
            <a:off x="6477000" y="3533775"/>
            <a:ext cx="114300" cy="114300"/>
          </a:xfrm>
          <a:prstGeom prst="rect">
            <a:avLst/>
          </a:prstGeom>
          <a:solidFill>
            <a:srgbClr val="B96E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C2B467-F852-4C16-9C09-A7B93D86A3D1}"/>
              </a:ext>
            </a:extLst>
          </p:cNvPr>
          <p:cNvSpPr>
            <a:spLocks noGrp="1"/>
          </p:cNvSpPr>
          <p:nvPr/>
        </p:nvSpPr>
        <p:spPr>
          <a:xfrm>
            <a:off x="5086350" y="3124200"/>
            <a:ext cx="1466850" cy="266700"/>
          </a:xfrm>
          <a:prstGeom prst="rect">
            <a:avLst/>
          </a:prstGeom>
          <a:solidFill>
            <a:srgbClr val="F6F0E6"/>
          </a:solidFill>
          <a:ln w="9525">
            <a:solidFill>
              <a:srgbClr val="B96E3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4D840D-4BE3-4BE0-8D4C-CDF8B34489F3}"/>
              </a:ext>
            </a:extLst>
          </p:cNvPr>
          <p:cNvSpPr>
            <a:spLocks noGrp="1"/>
          </p:cNvSpPr>
          <p:nvPr/>
        </p:nvSpPr>
        <p:spPr>
          <a:xfrm>
            <a:off x="5200650" y="3171825"/>
            <a:ext cx="1238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675" b="1">
                <a:solidFill>
                  <a:srgbClr val="B96E3B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dirty="0">
                <a:solidFill>
                  <a:srgbClr val="B96E3B"/>
                </a:solidFill>
                <a:latin typeface="Avenir Next"/>
                <a:ea typeface="Avenir Next"/>
                <a:cs typeface="Avenir Next"/>
              </a:rPr>
              <a:t>reserve memory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7ED8FE-6818-4080-B083-31BBB72B1604}"/>
              </a:ext>
            </a:extLst>
          </p:cNvPr>
          <p:cNvSpPr>
            <a:spLocks noGrp="1"/>
          </p:cNvSpPr>
          <p:nvPr/>
        </p:nvSpPr>
        <p:spPr>
          <a:xfrm>
            <a:off x="4953000" y="3886201"/>
            <a:ext cx="1752600" cy="435519"/>
          </a:xfrm>
          <a:prstGeom prst="rect">
            <a:avLst/>
          </a:prstGeom>
          <a:solidFill>
            <a:srgbClr val="F6F0E6"/>
          </a:solidFill>
          <a:ln w="9525">
            <a:solidFill>
              <a:srgbClr val="58735F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B377CE-2398-468E-9B6C-F24312E8CD97}"/>
              </a:ext>
            </a:extLst>
          </p:cNvPr>
          <p:cNvSpPr>
            <a:spLocks noGrp="1"/>
          </p:cNvSpPr>
          <p:nvPr/>
        </p:nvSpPr>
        <p:spPr>
          <a:xfrm>
            <a:off x="5067300" y="4048125"/>
            <a:ext cx="152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675" b="1">
                <a:solidFill>
                  <a:srgbClr val="58735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dirty="0">
                <a:solidFill>
                  <a:srgbClr val="58735F"/>
                </a:solidFill>
                <a:latin typeface="Avenir Next"/>
                <a:ea typeface="Avenir Next"/>
                <a:cs typeface="Avenir Next"/>
              </a:rPr>
              <a:t>heterogeneous histories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0494E1-5D5A-4548-9696-6A2CCAE36CAF}"/>
              </a:ext>
            </a:extLst>
          </p:cNvPr>
          <p:cNvSpPr>
            <a:spLocks noGrp="1"/>
          </p:cNvSpPr>
          <p:nvPr/>
        </p:nvSpPr>
        <p:spPr>
          <a:xfrm>
            <a:off x="1028700" y="462915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dirty="0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State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9F69AA-58A0-46C6-8AB3-488BFAB146C9}"/>
              </a:ext>
            </a:extLst>
          </p:cNvPr>
          <p:cNvSpPr>
            <a:spLocks noGrp="1"/>
          </p:cNvSpPr>
          <p:nvPr/>
        </p:nvSpPr>
        <p:spPr>
          <a:xfrm>
            <a:off x="2476500" y="4629150"/>
            <a:ext cx="2209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dirty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substrate pool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0C2903-387E-44BA-AAB4-9F50265AC917}"/>
              </a:ext>
            </a:extLst>
          </p:cNvPr>
          <p:cNvSpPr>
            <a:spLocks noGrp="1"/>
          </p:cNvSpPr>
          <p:nvPr/>
        </p:nvSpPr>
        <p:spPr>
          <a:xfrm>
            <a:off x="7239000" y="4629150"/>
            <a:ext cx="3276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dirty="0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V</a:t>
            </a:r>
            <a:r>
              <a:rPr sz="1200" b="1" baseline="-25000" dirty="0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, </a:t>
            </a:r>
            <a:r>
              <a:rPr sz="1200" b="1" baseline="-25000" dirty="0" err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xC</a:t>
            </a:r>
            <a:r>
              <a:rPr sz="1200" b="1" baseline="-25000" dirty="0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, </a:t>
            </a:r>
            <a:r>
              <a:rPr sz="1200" b="1" baseline="-25000" dirty="0" err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xN</a:t>
            </a:r>
            <a:r>
              <a:rPr sz="1200" b="1" dirty="0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, traits, stress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0F84C9-384A-46BE-9F8C-E006438110A0}"/>
              </a:ext>
            </a:extLst>
          </p:cNvPr>
          <p:cNvSpPr>
            <a:spLocks noGrp="1"/>
          </p:cNvSpPr>
          <p:nvPr/>
        </p:nvSpPr>
        <p:spPr>
          <a:xfrm>
            <a:off x="1028700" y="50292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dirty="0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Event logic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DC82D7-B3BF-43C4-B69F-6E856776D3BA}"/>
              </a:ext>
            </a:extLst>
          </p:cNvPr>
          <p:cNvSpPr>
            <a:spLocks noGrp="1"/>
          </p:cNvSpPr>
          <p:nvPr/>
        </p:nvSpPr>
        <p:spPr>
          <a:xfrm>
            <a:off x="2476500" y="5029200"/>
            <a:ext cx="2209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dirty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aggregate growth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5BA37E-3246-4DC0-8CFF-C3A20A95B929}"/>
              </a:ext>
            </a:extLst>
          </p:cNvPr>
          <p:cNvSpPr>
            <a:spLocks noGrp="1"/>
          </p:cNvSpPr>
          <p:nvPr/>
        </p:nvSpPr>
        <p:spPr>
          <a:xfrm>
            <a:off x="7239000" y="5029200"/>
            <a:ext cx="3276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dirty="0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division, death, dormancy, lysis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AB87CC-FD50-4C8C-A257-CA58214614B7}"/>
              </a:ext>
            </a:extLst>
          </p:cNvPr>
          <p:cNvSpPr>
            <a:spLocks noGrp="1"/>
          </p:cNvSpPr>
          <p:nvPr/>
        </p:nvSpPr>
        <p:spPr>
          <a:xfrm>
            <a:off x="1028700" y="542925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dirty="0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Validation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23FFC3-062A-43AD-A1DF-27239980F7FF}"/>
              </a:ext>
            </a:extLst>
          </p:cNvPr>
          <p:cNvSpPr>
            <a:spLocks noGrp="1"/>
          </p:cNvSpPr>
          <p:nvPr/>
        </p:nvSpPr>
        <p:spPr>
          <a:xfrm>
            <a:off x="2476500" y="5429250"/>
            <a:ext cx="2209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dirty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bulk trajectory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CAE953-5371-4F29-9F2C-CD997A93DAC5}"/>
              </a:ext>
            </a:extLst>
          </p:cNvPr>
          <p:cNvSpPr>
            <a:spLocks noGrp="1"/>
          </p:cNvSpPr>
          <p:nvPr/>
        </p:nvSpPr>
        <p:spPr>
          <a:xfrm>
            <a:off x="7239000" y="5397720"/>
            <a:ext cx="3276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dirty="0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single-cell and held-out perturbations</a:t>
            </a:r>
          </a:p>
        </p:txBody>
      </p:sp>
      <p:sp>
        <p:nvSpPr>
          <p:cNvPr id="28" name="footer-rule">
            <a:extLst>
              <a:ext uri="{FF2B5EF4-FFF2-40B4-BE49-F238E27FC236}">
                <a16:creationId xmlns:a16="http://schemas.microsoft.com/office/drawing/2014/main" id="{767CBB9F-9E57-4E4E-8829-AA549031332B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footer-source">
            <a:extLst>
              <a:ext uri="{FF2B5EF4-FFF2-40B4-BE49-F238E27FC236}">
                <a16:creationId xmlns:a16="http://schemas.microsoft.com/office/drawing/2014/main" id="{E53D9F9A-9AF6-49A7-9350-07D6B39F0B4E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Source basis: 'Why mDEB Fits an ABM' and 'Why Individual Data Matter'</a:t>
            </a:r>
          </a:p>
        </p:txBody>
      </p:sp>
      <p:sp>
        <p:nvSpPr>
          <p:cNvPr id="30" name="footer-page">
            <a:extLst>
              <a:ext uri="{FF2B5EF4-FFF2-40B4-BE49-F238E27FC236}">
                <a16:creationId xmlns:a16="http://schemas.microsoft.com/office/drawing/2014/main" id="{1BB1EC73-77DF-4FB7-9FD8-1ADAD6BF2291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5716C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5716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08346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-background">
            <a:extLst>
              <a:ext uri="{FF2B5EF4-FFF2-40B4-BE49-F238E27FC236}">
                <a16:creationId xmlns:a16="http://schemas.microsoft.com/office/drawing/2014/main" id="{83EBDF2C-60B2-42EC-8918-3F693CE4FB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0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926BD610-D871-4A16-82DE-2BBDB8F5AF08}"/>
              </a:ext>
            </a:extLst>
          </p:cNvPr>
          <p:cNvSpPr>
            <a:spLocks noGrp="1"/>
          </p:cNvSpPr>
          <p:nvPr/>
        </p:nvSpPr>
        <p:spPr>
          <a:xfrm>
            <a:off x="552450" y="485775"/>
            <a:ext cx="114300" cy="114300"/>
          </a:xfrm>
          <a:prstGeom prst="rect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DBD9AC3C-D222-4372-98AB-1152EE85CC5D}"/>
              </a:ext>
            </a:extLst>
          </p:cNvPr>
          <p:cNvSpPr>
            <a:spLocks noGrp="1"/>
          </p:cNvSpPr>
          <p:nvPr/>
        </p:nvSpPr>
        <p:spPr>
          <a:xfrm>
            <a:off x="781050" y="4381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P H Y S I O L O G Y   L O O 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142E0A-2D72-4D99-914E-C69EC22F5606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A direct physiology loop makes many-agent simulation feasible.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0A6E04-16A2-4642-A985-314986D0E8A2}"/>
              </a:ext>
            </a:extLst>
          </p:cNvPr>
          <p:cNvSpPr>
            <a:spLocks noGrp="1"/>
          </p:cNvSpPr>
          <p:nvPr/>
        </p:nvSpPr>
        <p:spPr>
          <a:xfrm>
            <a:off x="1123950" y="2381250"/>
            <a:ext cx="1809750" cy="952500"/>
          </a:xfrm>
          <a:prstGeom prst="rect">
            <a:avLst/>
          </a:prstGeom>
          <a:solidFill>
            <a:srgbClr val="EEE4D6"/>
          </a:solidFill>
          <a:ln w="9525">
            <a:solidFill>
              <a:srgbClr val="2F6F8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BCCD39-43C8-4C95-A658-9847CA32C54E}"/>
              </a:ext>
            </a:extLst>
          </p:cNvPr>
          <p:cNvSpPr>
            <a:spLocks noGrp="1"/>
          </p:cNvSpPr>
          <p:nvPr/>
        </p:nvSpPr>
        <p:spPr>
          <a:xfrm>
            <a:off x="1295400" y="25146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Local substrates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87ED1B-40DB-46E4-876D-83897ED8C1BF}"/>
              </a:ext>
            </a:extLst>
          </p:cNvPr>
          <p:cNvSpPr>
            <a:spLocks noGrp="1"/>
          </p:cNvSpPr>
          <p:nvPr/>
        </p:nvSpPr>
        <p:spPr>
          <a:xfrm>
            <a:off x="1295400" y="2781300"/>
            <a:ext cx="1466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S_C and S_N sensed at the agent position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7BBCBC-5B2F-41E8-AAFB-42365DE2C480}"/>
              </a:ext>
            </a:extLst>
          </p:cNvPr>
          <p:cNvSpPr>
            <a:spLocks noGrp="1"/>
          </p:cNvSpPr>
          <p:nvPr/>
        </p:nvSpPr>
        <p:spPr>
          <a:xfrm>
            <a:off x="3638550" y="2381250"/>
            <a:ext cx="1809750" cy="952500"/>
          </a:xfrm>
          <a:prstGeom prst="rect">
            <a:avLst/>
          </a:prstGeom>
          <a:solidFill>
            <a:srgbClr val="F2E5D7"/>
          </a:solidFill>
          <a:ln w="9525">
            <a:solidFill>
              <a:srgbClr val="B96E3B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BF7F8D-963E-4C4F-B673-96BA64FC172D}"/>
              </a:ext>
            </a:extLst>
          </p:cNvPr>
          <p:cNvSpPr>
            <a:spLocks noGrp="1"/>
          </p:cNvSpPr>
          <p:nvPr/>
        </p:nvSpPr>
        <p:spPr>
          <a:xfrm>
            <a:off x="3810000" y="25146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Uptake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F178E3-E8B4-4BF8-B60B-1FD60A7A7DFF}"/>
              </a:ext>
            </a:extLst>
          </p:cNvPr>
          <p:cNvSpPr>
            <a:spLocks noGrp="1"/>
          </p:cNvSpPr>
          <p:nvPr/>
        </p:nvSpPr>
        <p:spPr>
          <a:xfrm>
            <a:off x="3810000" y="2781300"/>
            <a:ext cx="1466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jA_i = uptake_i(S_i_local)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788EE0-EEFB-4F05-A536-79CD886B2D97}"/>
              </a:ext>
            </a:extLst>
          </p:cNvPr>
          <p:cNvSpPr>
            <a:spLocks noGrp="1"/>
          </p:cNvSpPr>
          <p:nvPr/>
        </p:nvSpPr>
        <p:spPr>
          <a:xfrm>
            <a:off x="6153150" y="2381250"/>
            <a:ext cx="1809750" cy="952500"/>
          </a:xfrm>
          <a:prstGeom prst="rect">
            <a:avLst/>
          </a:prstGeom>
          <a:solidFill>
            <a:srgbClr val="EEE4D6"/>
          </a:solidFill>
          <a:ln w="9525">
            <a:solidFill>
              <a:srgbClr val="58735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5E7681-28E8-42A3-B0F0-791E504C5EED}"/>
              </a:ext>
            </a:extLst>
          </p:cNvPr>
          <p:cNvSpPr>
            <a:spLocks noGrp="1"/>
          </p:cNvSpPr>
          <p:nvPr/>
        </p:nvSpPr>
        <p:spPr>
          <a:xfrm>
            <a:off x="6324600" y="25146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Reserves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F5FF9D-F544-4F93-8B47-5FEC9BCEEF4E}"/>
              </a:ext>
            </a:extLst>
          </p:cNvPr>
          <p:cNvSpPr>
            <a:spLocks noGrp="1"/>
          </p:cNvSpPr>
          <p:nvPr/>
        </p:nvSpPr>
        <p:spPr>
          <a:xfrm>
            <a:off x="6324600" y="2781300"/>
            <a:ext cx="1466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xC, xN update with mobilization and dilution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8822D3-9639-4FE9-BDEC-4683752C6E4C}"/>
              </a:ext>
            </a:extLst>
          </p:cNvPr>
          <p:cNvSpPr>
            <a:spLocks noGrp="1"/>
          </p:cNvSpPr>
          <p:nvPr/>
        </p:nvSpPr>
        <p:spPr>
          <a:xfrm>
            <a:off x="8667750" y="2381250"/>
            <a:ext cx="1809750" cy="952500"/>
          </a:xfrm>
          <a:prstGeom prst="rect">
            <a:avLst/>
          </a:prstGeom>
          <a:solidFill>
            <a:srgbClr val="F0E3C0"/>
          </a:solidFill>
          <a:ln w="9525">
            <a:solidFill>
              <a:srgbClr val="C49A45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8D2C67-0DC9-4E03-95D9-FCAEBC591D94}"/>
              </a:ext>
            </a:extLst>
          </p:cNvPr>
          <p:cNvSpPr>
            <a:spLocks noGrp="1"/>
          </p:cNvSpPr>
          <p:nvPr/>
        </p:nvSpPr>
        <p:spPr>
          <a:xfrm>
            <a:off x="8839200" y="25146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Growth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72D128-2233-4404-9CBF-4FE30504E879}"/>
              </a:ext>
            </a:extLst>
          </p:cNvPr>
          <p:cNvSpPr>
            <a:spLocks noGrp="1"/>
          </p:cNvSpPr>
          <p:nvPr/>
        </p:nvSpPr>
        <p:spPr>
          <a:xfrm>
            <a:off x="8839200" y="2781300"/>
            <a:ext cx="1466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synthesizing unit chooses constrained mu_g</a:t>
            </a:r>
          </a:p>
        </p:txBody>
      </p:sp>
      <p:sp>
        <p:nvSpPr>
          <p:cNvPr id="17" name="substrate-to-uptake-line">
            <a:extLst>
              <a:ext uri="{FF2B5EF4-FFF2-40B4-BE49-F238E27FC236}">
                <a16:creationId xmlns:a16="http://schemas.microsoft.com/office/drawing/2014/main" id="{EDFF37BC-42EA-44E4-AE6B-2789E60ABB4D}"/>
              </a:ext>
            </a:extLst>
          </p:cNvPr>
          <p:cNvSpPr>
            <a:spLocks noGrp="1"/>
          </p:cNvSpPr>
          <p:nvPr/>
        </p:nvSpPr>
        <p:spPr>
          <a:xfrm>
            <a:off x="2933700" y="2819400"/>
            <a:ext cx="704850" cy="19050"/>
          </a:xfrm>
          <a:prstGeom prst="rect">
            <a:avLst/>
          </a:prstGeom>
          <a:solidFill>
            <a:srgbClr val="2F6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ubstrate-to-uptake-tip">
            <a:extLst>
              <a:ext uri="{FF2B5EF4-FFF2-40B4-BE49-F238E27FC236}">
                <a16:creationId xmlns:a16="http://schemas.microsoft.com/office/drawing/2014/main" id="{A17AE845-DD8F-4537-BA47-1B2ECA42930E}"/>
              </a:ext>
            </a:extLst>
          </p:cNvPr>
          <p:cNvSpPr>
            <a:spLocks noGrp="1"/>
          </p:cNvSpPr>
          <p:nvPr/>
        </p:nvSpPr>
        <p:spPr>
          <a:xfrm>
            <a:off x="3600450" y="2781300"/>
            <a:ext cx="76200" cy="76200"/>
          </a:xfrm>
          <a:prstGeom prst="diamond">
            <a:avLst/>
          </a:prstGeom>
          <a:solidFill>
            <a:srgbClr val="2F6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uptake-to-reserve-line">
            <a:extLst>
              <a:ext uri="{FF2B5EF4-FFF2-40B4-BE49-F238E27FC236}">
                <a16:creationId xmlns:a16="http://schemas.microsoft.com/office/drawing/2014/main" id="{893A08D8-345D-4CDE-BF8C-84103A19FCC3}"/>
              </a:ext>
            </a:extLst>
          </p:cNvPr>
          <p:cNvSpPr>
            <a:spLocks noGrp="1"/>
          </p:cNvSpPr>
          <p:nvPr/>
        </p:nvSpPr>
        <p:spPr>
          <a:xfrm>
            <a:off x="5448300" y="2819400"/>
            <a:ext cx="704850" cy="19050"/>
          </a:xfrm>
          <a:prstGeom prst="rect">
            <a:avLst/>
          </a:prstGeom>
          <a:solidFill>
            <a:srgbClr val="B96E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uptake-to-reserve-tip">
            <a:extLst>
              <a:ext uri="{FF2B5EF4-FFF2-40B4-BE49-F238E27FC236}">
                <a16:creationId xmlns:a16="http://schemas.microsoft.com/office/drawing/2014/main" id="{C8BD1424-2F2F-421F-819C-6EA8023B7D33}"/>
              </a:ext>
            </a:extLst>
          </p:cNvPr>
          <p:cNvSpPr>
            <a:spLocks noGrp="1"/>
          </p:cNvSpPr>
          <p:nvPr/>
        </p:nvSpPr>
        <p:spPr>
          <a:xfrm>
            <a:off x="6115050" y="2781300"/>
            <a:ext cx="76200" cy="76200"/>
          </a:xfrm>
          <a:prstGeom prst="diamond">
            <a:avLst/>
          </a:prstGeom>
          <a:solidFill>
            <a:srgbClr val="B96E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serve-to-growth-line">
            <a:extLst>
              <a:ext uri="{FF2B5EF4-FFF2-40B4-BE49-F238E27FC236}">
                <a16:creationId xmlns:a16="http://schemas.microsoft.com/office/drawing/2014/main" id="{38CC83D7-4663-4F5A-A038-F82E827014FB}"/>
              </a:ext>
            </a:extLst>
          </p:cNvPr>
          <p:cNvSpPr>
            <a:spLocks noGrp="1"/>
          </p:cNvSpPr>
          <p:nvPr/>
        </p:nvSpPr>
        <p:spPr>
          <a:xfrm>
            <a:off x="7962900" y="2819400"/>
            <a:ext cx="704850" cy="19050"/>
          </a:xfrm>
          <a:prstGeom prst="rect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serve-to-growth-tip">
            <a:extLst>
              <a:ext uri="{FF2B5EF4-FFF2-40B4-BE49-F238E27FC236}">
                <a16:creationId xmlns:a16="http://schemas.microsoft.com/office/drawing/2014/main" id="{C3DCB74E-98DC-4F9E-B4C1-9DB90A7B0FE4}"/>
              </a:ext>
            </a:extLst>
          </p:cNvPr>
          <p:cNvSpPr>
            <a:spLocks noGrp="1"/>
          </p:cNvSpPr>
          <p:nvPr/>
        </p:nvSpPr>
        <p:spPr>
          <a:xfrm>
            <a:off x="8629650" y="2781300"/>
            <a:ext cx="76200" cy="76200"/>
          </a:xfrm>
          <a:prstGeom prst="diamond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98D959-E46D-4C28-ADB6-8D638044071A}"/>
              </a:ext>
            </a:extLst>
          </p:cNvPr>
          <p:cNvSpPr>
            <a:spLocks noGrp="1"/>
          </p:cNvSpPr>
          <p:nvPr/>
        </p:nvSpPr>
        <p:spPr>
          <a:xfrm>
            <a:off x="2343150" y="3943350"/>
            <a:ext cx="7239000" cy="1123950"/>
          </a:xfrm>
          <a:prstGeom prst="rect">
            <a:avLst/>
          </a:prstGeom>
          <a:solidFill>
            <a:srgbClr val="1420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F62CC2-AFCB-4020-B0B1-344146F5E420}"/>
              </a:ext>
            </a:extLst>
          </p:cNvPr>
          <p:cNvSpPr>
            <a:spLocks noGrp="1"/>
          </p:cNvSpPr>
          <p:nvPr/>
        </p:nvSpPr>
        <p:spPr>
          <a:xfrm>
            <a:off x="2628900" y="41719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BED4C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BED4C5"/>
                </a:solidFill>
                <a:latin typeface="Avenir Next"/>
                <a:ea typeface="Avenir Next"/>
                <a:cs typeface="Avenir Next"/>
              </a:rPr>
              <a:t>mDEB shortcut that matters in an ABM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0A6A11-173F-4463-85D3-13BE8BEBDFF5}"/>
              </a:ext>
            </a:extLst>
          </p:cNvPr>
          <p:cNvSpPr>
            <a:spLocks noGrp="1"/>
          </p:cNvSpPr>
          <p:nvPr/>
        </p:nvSpPr>
        <p:spPr>
          <a:xfrm>
            <a:off x="2628900" y="4438650"/>
            <a:ext cx="619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Reserve mobilization jE_i = vE_i * x_i does not depend on mu, so growth can be computed directly for many agents.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DB640D-58A4-4873-841A-BC7155C5E803}"/>
              </a:ext>
            </a:extLst>
          </p:cNvPr>
          <p:cNvSpPr>
            <a:spLocks noGrp="1"/>
          </p:cNvSpPr>
          <p:nvPr/>
        </p:nvSpPr>
        <p:spPr>
          <a:xfrm>
            <a:off x="4324350" y="5391150"/>
            <a:ext cx="3429000" cy="323850"/>
          </a:xfrm>
          <a:prstGeom prst="rect">
            <a:avLst/>
          </a:prstGeom>
          <a:solidFill>
            <a:srgbClr val="F6F0E6"/>
          </a:solidFill>
          <a:ln w="9525">
            <a:solidFill>
              <a:srgbClr val="B96E3B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A227A7-9CE9-44F9-BB4C-3AB662407060}"/>
              </a:ext>
            </a:extLst>
          </p:cNvPr>
          <p:cNvSpPr>
            <a:spLocks noGrp="1"/>
          </p:cNvSpPr>
          <p:nvPr/>
        </p:nvSpPr>
        <p:spPr>
          <a:xfrm>
            <a:off x="4438650" y="5467350"/>
            <a:ext cx="3200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50" b="1">
                <a:solidFill>
                  <a:srgbClr val="B96E3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96E3B"/>
                </a:solidFill>
                <a:latin typeface="Avenir Next"/>
                <a:ea typeface="Avenir Next"/>
                <a:cs typeface="Avenir Next"/>
              </a:rPr>
              <a:t>mu = mu_g - maintenance deficit loss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CC2ACE-D42D-4665-8947-C69E4CA5D049}"/>
              </a:ext>
            </a:extLst>
          </p:cNvPr>
          <p:cNvSpPr>
            <a:spLocks noGrp="1"/>
          </p:cNvSpPr>
          <p:nvPr/>
        </p:nvSpPr>
        <p:spPr>
          <a:xfrm>
            <a:off x="1333500" y="5467350"/>
            <a:ext cx="180975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6F7A0E-CB2C-4220-8D18-094217030BBE}"/>
              </a:ext>
            </a:extLst>
          </p:cNvPr>
          <p:cNvSpPr>
            <a:spLocks noGrp="1"/>
          </p:cNvSpPr>
          <p:nvPr/>
        </p:nvSpPr>
        <p:spPr>
          <a:xfrm>
            <a:off x="1123950" y="5638800"/>
            <a:ext cx="413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dx_i/dt = jA_i - jE_i - mu*x_i + remobilized rejected reserve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DF3862-D422-49A2-8A68-C93DC73CDA4F}"/>
              </a:ext>
            </a:extLst>
          </p:cNvPr>
          <p:cNvSpPr>
            <a:spLocks noGrp="1"/>
          </p:cNvSpPr>
          <p:nvPr/>
        </p:nvSpPr>
        <p:spPr>
          <a:xfrm>
            <a:off x="8191500" y="5467350"/>
            <a:ext cx="196215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F942E0-076A-4479-BBF9-3C237AAB3233}"/>
              </a:ext>
            </a:extLst>
          </p:cNvPr>
          <p:cNvSpPr>
            <a:spLocks noGrp="1"/>
          </p:cNvSpPr>
          <p:nvPr/>
        </p:nvSpPr>
        <p:spPr>
          <a:xfrm>
            <a:off x="8667750" y="56388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dV/dt = mu * V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CEE63C-E8A2-4A49-AD80-580681E90E95}"/>
              </a:ext>
            </a:extLst>
          </p:cNvPr>
          <p:cNvSpPr>
            <a:spLocks noGrp="1"/>
          </p:cNvSpPr>
          <p:nvPr/>
        </p:nvSpPr>
        <p:spPr>
          <a:xfrm>
            <a:off x="8286750" y="990600"/>
            <a:ext cx="2686050" cy="723900"/>
          </a:xfrm>
          <a:prstGeom prst="rect">
            <a:avLst/>
          </a:prstGeom>
          <a:solidFill>
            <a:srgbClr val="34483B"/>
          </a:solidFill>
          <a:ln w="9525">
            <a:solidFill>
              <a:srgbClr val="34483B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4637C63-8CF8-49B0-A22B-B38866902798}"/>
              </a:ext>
            </a:extLst>
          </p:cNvPr>
          <p:cNvSpPr>
            <a:spLocks noGrp="1"/>
          </p:cNvSpPr>
          <p:nvPr/>
        </p:nvSpPr>
        <p:spPr>
          <a:xfrm>
            <a:off x="8458200" y="1143000"/>
            <a:ext cx="2343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loop gives every agent internal memory without solving an implicit growth equation at every timestep.</a:t>
            </a:r>
          </a:p>
        </p:txBody>
      </p:sp>
      <p:sp>
        <p:nvSpPr>
          <p:cNvPr id="34" name="footer-rule">
            <a:extLst>
              <a:ext uri="{FF2B5EF4-FFF2-40B4-BE49-F238E27FC236}">
                <a16:creationId xmlns:a16="http://schemas.microsoft.com/office/drawing/2014/main" id="{CADE71EA-4DA5-4759-B4F1-B30F61A01A9F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footer-source">
            <a:extLst>
              <a:ext uri="{FF2B5EF4-FFF2-40B4-BE49-F238E27FC236}">
                <a16:creationId xmlns:a16="http://schemas.microsoft.com/office/drawing/2014/main" id="{CBFEBC23-F0A6-45B5-A742-ED3DFED072CF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Source basis: physiology loop equations and mDEB advantage from agent brainstorm</a:t>
            </a:r>
          </a:p>
        </p:txBody>
      </p:sp>
      <p:sp>
        <p:nvSpPr>
          <p:cNvPr id="36" name="footer-page">
            <a:extLst>
              <a:ext uri="{FF2B5EF4-FFF2-40B4-BE49-F238E27FC236}">
                <a16:creationId xmlns:a16="http://schemas.microsoft.com/office/drawing/2014/main" id="{5FAA6A62-B796-4487-BDC9-7AEBBDCE3A02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5716C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5716C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21BD5A1-0E3C-939F-B6E9-95213C765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9" y="3505200"/>
            <a:ext cx="2616200" cy="381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30BC5DE-CE93-FFB8-0BD6-9EA1913A59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" y="3981450"/>
            <a:ext cx="2438400" cy="2159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7F2E090-87C0-862E-4F0B-DEDAEDF873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" y="4300161"/>
            <a:ext cx="12573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393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-background">
            <a:extLst>
              <a:ext uri="{FF2B5EF4-FFF2-40B4-BE49-F238E27FC236}">
                <a16:creationId xmlns:a16="http://schemas.microsoft.com/office/drawing/2014/main" id="{9E9DDC94-4B4B-469A-9B1C-E9AB716A29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0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1C68E415-EB85-4421-9D72-73AEE9135DB9}"/>
              </a:ext>
            </a:extLst>
          </p:cNvPr>
          <p:cNvSpPr>
            <a:spLocks noGrp="1"/>
          </p:cNvSpPr>
          <p:nvPr/>
        </p:nvSpPr>
        <p:spPr>
          <a:xfrm>
            <a:off x="552450" y="485775"/>
            <a:ext cx="114300" cy="114300"/>
          </a:xfrm>
          <a:prstGeom prst="rect">
            <a:avLst/>
          </a:prstGeom>
          <a:solidFill>
            <a:srgbClr val="B96E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50F6F957-B412-4383-9CC6-2EB4C9B6CE2E}"/>
              </a:ext>
            </a:extLst>
          </p:cNvPr>
          <p:cNvSpPr>
            <a:spLocks noGrp="1"/>
          </p:cNvSpPr>
          <p:nvPr/>
        </p:nvSpPr>
        <p:spPr>
          <a:xfrm>
            <a:off x="781050" y="4381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A G E N T   E V E N T 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50D3A5-6167-4A91-A5C0-EA1EF9819F17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572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Agent events turn physiology into population dynamics.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2EF80A-9DC0-4962-9A56-F9D20AAA6226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1676400" cy="1257300"/>
          </a:xfrm>
          <a:prstGeom prst="rect">
            <a:avLst/>
          </a:prstGeom>
          <a:solidFill>
            <a:srgbClr val="EEE4D6"/>
          </a:solidFill>
          <a:ln w="9525">
            <a:solidFill>
              <a:srgbClr val="58735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3D0BFD-3B3F-4FAF-96C2-D3A7D84A0D0C}"/>
              </a:ext>
            </a:extLst>
          </p:cNvPr>
          <p:cNvSpPr>
            <a:spLocks noGrp="1"/>
          </p:cNvSpPr>
          <p:nvPr/>
        </p:nvSpPr>
        <p:spPr>
          <a:xfrm>
            <a:off x="857250" y="241935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Division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A3B45C-436D-47DD-91CB-97993C53C4D6}"/>
              </a:ext>
            </a:extLst>
          </p:cNvPr>
          <p:cNvSpPr>
            <a:spLocks noGrp="1"/>
          </p:cNvSpPr>
          <p:nvPr/>
        </p:nvSpPr>
        <p:spPr>
          <a:xfrm>
            <a:off x="857250" y="27241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98" b="1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V &gt;= V_div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1332F0-EDDB-4CE4-900B-704941DB5075}"/>
              </a:ext>
            </a:extLst>
          </p:cNvPr>
          <p:cNvSpPr>
            <a:spLocks noGrp="1"/>
          </p:cNvSpPr>
          <p:nvPr/>
        </p:nvSpPr>
        <p:spPr>
          <a:xfrm>
            <a:off x="857250" y="306705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structure and reserves split into daughters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E00743-9BB1-440B-830D-74951FE658DD}"/>
              </a:ext>
            </a:extLst>
          </p:cNvPr>
          <p:cNvSpPr>
            <a:spLocks noGrp="1"/>
          </p:cNvSpPr>
          <p:nvPr/>
        </p:nvSpPr>
        <p:spPr>
          <a:xfrm>
            <a:off x="2362200" y="2819400"/>
            <a:ext cx="476250" cy="19050"/>
          </a:xfrm>
          <a:prstGeom prst="rect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2E2419-3097-4C01-AFE9-D0557DCF3A81}"/>
              </a:ext>
            </a:extLst>
          </p:cNvPr>
          <p:cNvSpPr>
            <a:spLocks noGrp="1"/>
          </p:cNvSpPr>
          <p:nvPr/>
        </p:nvSpPr>
        <p:spPr>
          <a:xfrm>
            <a:off x="2781300" y="2781300"/>
            <a:ext cx="76200" cy="76200"/>
          </a:xfrm>
          <a:prstGeom prst="rect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821556-DCF2-44E7-A0A5-BCC62EF56CC2}"/>
              </a:ext>
            </a:extLst>
          </p:cNvPr>
          <p:cNvSpPr>
            <a:spLocks noGrp="1"/>
          </p:cNvSpPr>
          <p:nvPr/>
        </p:nvSpPr>
        <p:spPr>
          <a:xfrm>
            <a:off x="2838450" y="2781300"/>
            <a:ext cx="1676400" cy="1257300"/>
          </a:xfrm>
          <a:prstGeom prst="rect">
            <a:avLst/>
          </a:prstGeom>
          <a:solidFill>
            <a:srgbClr val="142026"/>
          </a:solidFill>
          <a:ln w="9525">
            <a:solidFill>
              <a:srgbClr val="B96E3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97577B-CB64-46B4-8A4F-450AC026D3BB}"/>
              </a:ext>
            </a:extLst>
          </p:cNvPr>
          <p:cNvSpPr>
            <a:spLocks noGrp="1"/>
          </p:cNvSpPr>
          <p:nvPr/>
        </p:nvSpPr>
        <p:spPr>
          <a:xfrm>
            <a:off x="3009900" y="29337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Death or lysis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CBE5EE-2658-4A71-B432-9D0B4E99512A}"/>
              </a:ext>
            </a:extLst>
          </p:cNvPr>
          <p:cNvSpPr>
            <a:spLocks noGrp="1"/>
          </p:cNvSpPr>
          <p:nvPr/>
        </p:nvSpPr>
        <p:spPr>
          <a:xfrm>
            <a:off x="3009900" y="32385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98" b="1">
                <a:solidFill>
                  <a:srgbClr val="D6CFC3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D6CFC3"/>
                </a:solidFill>
                <a:latin typeface="Avenir Next"/>
                <a:ea typeface="Avenir Next"/>
                <a:cs typeface="Avenir Next"/>
              </a:rPr>
              <a:t>starvation, age, stress, V &lt; V_min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923DD6-0406-4813-9207-D0C29BC005A0}"/>
              </a:ext>
            </a:extLst>
          </p:cNvPr>
          <p:cNvSpPr>
            <a:spLocks noGrp="1"/>
          </p:cNvSpPr>
          <p:nvPr/>
        </p:nvSpPr>
        <p:spPr>
          <a:xfrm>
            <a:off x="3009900" y="358140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0">
                <a:solidFill>
                  <a:srgbClr val="D6CFC3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D6CFC3"/>
                </a:solidFill>
                <a:latin typeface="Avenir Next"/>
                <a:ea typeface="Avenir Next"/>
                <a:cs typeface="Avenir Next"/>
              </a:rPr>
              <a:t>dead biomass enters DOM/POM pools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C932D7-5B5C-4B06-A0C8-068EFF6B3391}"/>
              </a:ext>
            </a:extLst>
          </p:cNvPr>
          <p:cNvSpPr>
            <a:spLocks noGrp="1"/>
          </p:cNvSpPr>
          <p:nvPr/>
        </p:nvSpPr>
        <p:spPr>
          <a:xfrm>
            <a:off x="4514850" y="3333750"/>
            <a:ext cx="476250" cy="19050"/>
          </a:xfrm>
          <a:prstGeom prst="rect">
            <a:avLst/>
          </a:prstGeom>
          <a:solidFill>
            <a:srgbClr val="B96E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6AA01C-8740-42EC-8775-23EF26619513}"/>
              </a:ext>
            </a:extLst>
          </p:cNvPr>
          <p:cNvSpPr>
            <a:spLocks noGrp="1"/>
          </p:cNvSpPr>
          <p:nvPr/>
        </p:nvSpPr>
        <p:spPr>
          <a:xfrm>
            <a:off x="4933950" y="3295650"/>
            <a:ext cx="76200" cy="76200"/>
          </a:xfrm>
          <a:prstGeom prst="rect">
            <a:avLst/>
          </a:prstGeom>
          <a:solidFill>
            <a:srgbClr val="B96E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34B831-FB5D-4F68-BADB-A509627565DD}"/>
              </a:ext>
            </a:extLst>
          </p:cNvPr>
          <p:cNvSpPr>
            <a:spLocks noGrp="1"/>
          </p:cNvSpPr>
          <p:nvPr/>
        </p:nvSpPr>
        <p:spPr>
          <a:xfrm>
            <a:off x="4991100" y="2266950"/>
            <a:ext cx="1676400" cy="1257300"/>
          </a:xfrm>
          <a:prstGeom prst="rect">
            <a:avLst/>
          </a:prstGeom>
          <a:solidFill>
            <a:srgbClr val="EEE4D6"/>
          </a:solidFill>
          <a:ln w="9525">
            <a:solidFill>
              <a:srgbClr val="2F6F8F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989FC5-02AD-4735-B4B5-EBC2F852ECD3}"/>
              </a:ext>
            </a:extLst>
          </p:cNvPr>
          <p:cNvSpPr>
            <a:spLocks noGrp="1"/>
          </p:cNvSpPr>
          <p:nvPr/>
        </p:nvSpPr>
        <p:spPr>
          <a:xfrm>
            <a:off x="5162550" y="241935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Dormancy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12A4BF-F308-4DB7-94C8-4815DCF7F954}"/>
              </a:ext>
            </a:extLst>
          </p:cNvPr>
          <p:cNvSpPr>
            <a:spLocks noGrp="1"/>
          </p:cNvSpPr>
          <p:nvPr/>
        </p:nvSpPr>
        <p:spPr>
          <a:xfrm>
            <a:off x="5162550" y="27241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98" b="1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persistent maintenance deficit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87D619-E63D-4799-9BDD-141B137486F6}"/>
              </a:ext>
            </a:extLst>
          </p:cNvPr>
          <p:cNvSpPr>
            <a:spLocks noGrp="1"/>
          </p:cNvSpPr>
          <p:nvPr/>
        </p:nvSpPr>
        <p:spPr>
          <a:xfrm>
            <a:off x="5162550" y="306705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reduced uptake, turnover, and maintenance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1CC782-F0EB-4E47-B61B-0A8FE13AFC81}"/>
              </a:ext>
            </a:extLst>
          </p:cNvPr>
          <p:cNvSpPr>
            <a:spLocks noGrp="1"/>
          </p:cNvSpPr>
          <p:nvPr/>
        </p:nvSpPr>
        <p:spPr>
          <a:xfrm>
            <a:off x="6667500" y="2819400"/>
            <a:ext cx="476250" cy="19050"/>
          </a:xfrm>
          <a:prstGeom prst="rect">
            <a:avLst/>
          </a:prstGeom>
          <a:solidFill>
            <a:srgbClr val="2F6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86D70C-1CEA-43E0-B15F-AEE7147AB368}"/>
              </a:ext>
            </a:extLst>
          </p:cNvPr>
          <p:cNvSpPr>
            <a:spLocks noGrp="1"/>
          </p:cNvSpPr>
          <p:nvPr/>
        </p:nvSpPr>
        <p:spPr>
          <a:xfrm>
            <a:off x="7086600" y="2781300"/>
            <a:ext cx="76200" cy="76200"/>
          </a:xfrm>
          <a:prstGeom prst="rect">
            <a:avLst/>
          </a:prstGeom>
          <a:solidFill>
            <a:srgbClr val="2F6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442C90-303A-4D30-B8A1-30E88A779F35}"/>
              </a:ext>
            </a:extLst>
          </p:cNvPr>
          <p:cNvSpPr>
            <a:spLocks noGrp="1"/>
          </p:cNvSpPr>
          <p:nvPr/>
        </p:nvSpPr>
        <p:spPr>
          <a:xfrm>
            <a:off x="7143750" y="2781300"/>
            <a:ext cx="1676400" cy="1257300"/>
          </a:xfrm>
          <a:prstGeom prst="rect">
            <a:avLst/>
          </a:prstGeom>
          <a:solidFill>
            <a:srgbClr val="EEE4D6"/>
          </a:solidFill>
          <a:ln w="9525">
            <a:solidFill>
              <a:srgbClr val="C49A45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CD834E-7935-4A7F-81AA-D0B4BD793B56}"/>
              </a:ext>
            </a:extLst>
          </p:cNvPr>
          <p:cNvSpPr>
            <a:spLocks noGrp="1"/>
          </p:cNvSpPr>
          <p:nvPr/>
        </p:nvSpPr>
        <p:spPr>
          <a:xfrm>
            <a:off x="7315200" y="29337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Plasticity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592870-D3BF-486E-AF0F-703808F03CD5}"/>
              </a:ext>
            </a:extLst>
          </p:cNvPr>
          <p:cNvSpPr>
            <a:spLocks noGrp="1"/>
          </p:cNvSpPr>
          <p:nvPr/>
        </p:nvSpPr>
        <p:spPr>
          <a:xfrm>
            <a:off x="7315200" y="32385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98" b="1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adjust vE, uptake, enzyme allocation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5C1825-F86B-4029-824E-B428E0B39A08}"/>
              </a:ext>
            </a:extLst>
          </p:cNvPr>
          <p:cNvSpPr>
            <a:spLocks noGrp="1"/>
          </p:cNvSpPr>
          <p:nvPr/>
        </p:nvSpPr>
        <p:spPr>
          <a:xfrm>
            <a:off x="7315200" y="358140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reserve-use strategy changes before inheritance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106367-5BE5-4162-B39F-3A8F1D7CB465}"/>
              </a:ext>
            </a:extLst>
          </p:cNvPr>
          <p:cNvSpPr>
            <a:spLocks noGrp="1"/>
          </p:cNvSpPr>
          <p:nvPr/>
        </p:nvSpPr>
        <p:spPr>
          <a:xfrm>
            <a:off x="8820150" y="3333750"/>
            <a:ext cx="476250" cy="19050"/>
          </a:xfrm>
          <a:prstGeom prst="rect">
            <a:avLst/>
          </a:prstGeom>
          <a:solidFill>
            <a:srgbClr val="C49A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EBF2D5-C66B-45F3-95B1-8615A98B4920}"/>
              </a:ext>
            </a:extLst>
          </p:cNvPr>
          <p:cNvSpPr>
            <a:spLocks noGrp="1"/>
          </p:cNvSpPr>
          <p:nvPr/>
        </p:nvSpPr>
        <p:spPr>
          <a:xfrm>
            <a:off x="9239250" y="3295650"/>
            <a:ext cx="76200" cy="76200"/>
          </a:xfrm>
          <a:prstGeom prst="rect">
            <a:avLst/>
          </a:prstGeom>
          <a:solidFill>
            <a:srgbClr val="C49A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CB408C-DBC9-482D-9909-BDB0D3FCED59}"/>
              </a:ext>
            </a:extLst>
          </p:cNvPr>
          <p:cNvSpPr>
            <a:spLocks noGrp="1"/>
          </p:cNvSpPr>
          <p:nvPr/>
        </p:nvSpPr>
        <p:spPr>
          <a:xfrm>
            <a:off x="9296400" y="2266950"/>
            <a:ext cx="1676400" cy="1257300"/>
          </a:xfrm>
          <a:prstGeom prst="rect">
            <a:avLst/>
          </a:prstGeom>
          <a:solidFill>
            <a:srgbClr val="EEE4D6"/>
          </a:solidFill>
          <a:ln w="9525">
            <a:solidFill>
              <a:srgbClr val="34483B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8D3F4E-070E-4AA3-A54C-B9C3EE9B11D3}"/>
              </a:ext>
            </a:extLst>
          </p:cNvPr>
          <p:cNvSpPr>
            <a:spLocks noGrp="1"/>
          </p:cNvSpPr>
          <p:nvPr/>
        </p:nvSpPr>
        <p:spPr>
          <a:xfrm>
            <a:off x="9467850" y="241935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Mutation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46E8524-C167-4E6D-A503-872375A840E5}"/>
              </a:ext>
            </a:extLst>
          </p:cNvPr>
          <p:cNvSpPr>
            <a:spLocks noGrp="1"/>
          </p:cNvSpPr>
          <p:nvPr/>
        </p:nvSpPr>
        <p:spPr>
          <a:xfrm>
            <a:off x="9467850" y="27241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98" b="1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trait perturbation at division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0765FC-CD6B-46E2-8CC7-56D30FC0414C}"/>
              </a:ext>
            </a:extLst>
          </p:cNvPr>
          <p:cNvSpPr>
            <a:spLocks noGrp="1"/>
          </p:cNvSpPr>
          <p:nvPr/>
        </p:nvSpPr>
        <p:spPr>
          <a:xfrm>
            <a:off x="9467850" y="306705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adaptation creates strain-level spread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CB8663-877A-475D-AB7B-BF0C2D88D87D}"/>
              </a:ext>
            </a:extLst>
          </p:cNvPr>
          <p:cNvSpPr>
            <a:spLocks noGrp="1"/>
          </p:cNvSpPr>
          <p:nvPr/>
        </p:nvSpPr>
        <p:spPr>
          <a:xfrm>
            <a:off x="1123950" y="5010150"/>
            <a:ext cx="94869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0FCD14E-854F-474C-B890-D80D5EB35DFC}"/>
              </a:ext>
            </a:extLst>
          </p:cNvPr>
          <p:cNvSpPr>
            <a:spLocks noGrp="1"/>
          </p:cNvSpPr>
          <p:nvPr/>
        </p:nvSpPr>
        <p:spPr>
          <a:xfrm>
            <a:off x="1390650" y="5181600"/>
            <a:ext cx="895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Population outputs are not bolted on: total biomass, POC, PON, substrates, reserve distributions, and trait distributions emerge from repeated individual events.</a:t>
            </a:r>
          </a:p>
        </p:txBody>
      </p:sp>
      <p:sp>
        <p:nvSpPr>
          <p:cNvPr id="35" name="footer-rule">
            <a:extLst>
              <a:ext uri="{FF2B5EF4-FFF2-40B4-BE49-F238E27FC236}">
                <a16:creationId xmlns:a16="http://schemas.microsoft.com/office/drawing/2014/main" id="{2A900955-E7EB-4AA4-8E22-4A9A6A378E78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footer-source">
            <a:extLst>
              <a:ext uri="{FF2B5EF4-FFF2-40B4-BE49-F238E27FC236}">
                <a16:creationId xmlns:a16="http://schemas.microsoft.com/office/drawing/2014/main" id="{7A1F7B71-C863-410B-A78F-316A69840FAF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Source basis: agent event list and minimal prototype outputs from agent brainstorm</a:t>
            </a:r>
          </a:p>
        </p:txBody>
      </p:sp>
      <p:sp>
        <p:nvSpPr>
          <p:cNvPr id="37" name="footer-page">
            <a:extLst>
              <a:ext uri="{FF2B5EF4-FFF2-40B4-BE49-F238E27FC236}">
                <a16:creationId xmlns:a16="http://schemas.microsoft.com/office/drawing/2014/main" id="{6D4A6906-E7B5-4A15-9101-90404D48823B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5716C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5716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87897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-background">
            <a:extLst>
              <a:ext uri="{FF2B5EF4-FFF2-40B4-BE49-F238E27FC236}">
                <a16:creationId xmlns:a16="http://schemas.microsoft.com/office/drawing/2014/main" id="{A3B90680-F174-4103-BE33-01C9C1AAC2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0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1C420E15-F0F1-49BC-87AD-6FA45E3C39A4}"/>
              </a:ext>
            </a:extLst>
          </p:cNvPr>
          <p:cNvSpPr>
            <a:spLocks noGrp="1"/>
          </p:cNvSpPr>
          <p:nvPr/>
        </p:nvSpPr>
        <p:spPr>
          <a:xfrm>
            <a:off x="552450" y="485775"/>
            <a:ext cx="114300" cy="114300"/>
          </a:xfrm>
          <a:prstGeom prst="rect">
            <a:avLst/>
          </a:prstGeom>
          <a:solidFill>
            <a:srgbClr val="2F6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869FA6E9-648D-4330-9CE1-319478827036}"/>
              </a:ext>
            </a:extLst>
          </p:cNvPr>
          <p:cNvSpPr>
            <a:spLocks noGrp="1"/>
          </p:cNvSpPr>
          <p:nvPr/>
        </p:nvSpPr>
        <p:spPr>
          <a:xfrm>
            <a:off x="781050" y="4381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S C A L E   P A T 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178D55-F3B7-4BFA-A67A-B00A9E256F4B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763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The environment can scale from chemostat to reactive transport.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87B457-4256-4A72-888B-7874984D1F74}"/>
              </a:ext>
            </a:extLst>
          </p:cNvPr>
          <p:cNvSpPr>
            <a:spLocks noGrp="1"/>
          </p:cNvSpPr>
          <p:nvPr/>
        </p:nvSpPr>
        <p:spPr>
          <a:xfrm>
            <a:off x="704850" y="2667000"/>
            <a:ext cx="2152650" cy="2190750"/>
          </a:xfrm>
          <a:prstGeom prst="rect">
            <a:avLst/>
          </a:prstGeom>
          <a:solidFill>
            <a:srgbClr val="142026"/>
          </a:solidFill>
          <a:ln w="9525">
            <a:solidFill>
              <a:srgbClr val="14202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3C6109-6DB3-403F-9DD6-3737ECCCD254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ACA430-6EAA-47C9-960C-7FEA5596E995}"/>
              </a:ext>
            </a:extLst>
          </p:cNvPr>
          <p:cNvSpPr>
            <a:spLocks noGrp="1"/>
          </p:cNvSpPr>
          <p:nvPr/>
        </p:nvSpPr>
        <p:spPr>
          <a:xfrm>
            <a:off x="1352550" y="2876550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Well-mixed chemostat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ECA095-B678-48C3-8E24-3924D7C678B8}"/>
              </a:ext>
            </a:extLst>
          </p:cNvPr>
          <p:cNvSpPr>
            <a:spLocks noGrp="1"/>
          </p:cNvSpPr>
          <p:nvPr/>
        </p:nvSpPr>
        <p:spPr>
          <a:xfrm>
            <a:off x="895350" y="3390900"/>
            <a:ext cx="1752600" cy="9525"/>
          </a:xfrm>
          <a:prstGeom prst="rect">
            <a:avLst/>
          </a:prstGeom>
          <a:solidFill>
            <a:srgbClr val="6C87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AFEABF-AECE-499C-BA20-6F36D177714B}"/>
              </a:ext>
            </a:extLst>
          </p:cNvPr>
          <p:cNvSpPr>
            <a:spLocks noGrp="1"/>
          </p:cNvSpPr>
          <p:nvPr/>
        </p:nvSpPr>
        <p:spPr>
          <a:xfrm>
            <a:off x="895350" y="3581400"/>
            <a:ext cx="17526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D6E1D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D6E1DA"/>
                </a:solidFill>
                <a:latin typeface="Avenir Next"/>
                <a:ea typeface="Avenir Next"/>
                <a:cs typeface="Avenir Next"/>
              </a:rPr>
              <a:t>C and N pools; many agents competing for shared substrates.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11855C-4298-439D-8BE0-337E65FB6828}"/>
              </a:ext>
            </a:extLst>
          </p:cNvPr>
          <p:cNvSpPr>
            <a:spLocks noGrp="1"/>
          </p:cNvSpPr>
          <p:nvPr/>
        </p:nvSpPr>
        <p:spPr>
          <a:xfrm>
            <a:off x="895350" y="4229100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563" b="1">
                <a:solidFill>
                  <a:srgbClr val="C8D8CE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C8D8CE"/>
                </a:solidFill>
                <a:latin typeface="Avenir Next"/>
                <a:ea typeface="Avenir Next"/>
                <a:cs typeface="Avenir Next"/>
              </a:rPr>
              <a:t>G A T 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DC032E-5F4C-43E0-83BF-18D674212B0D}"/>
              </a:ext>
            </a:extLst>
          </p:cNvPr>
          <p:cNvSpPr>
            <a:spLocks noGrp="1"/>
          </p:cNvSpPr>
          <p:nvPr/>
        </p:nvSpPr>
        <p:spPr>
          <a:xfrm>
            <a:off x="895350" y="4419600"/>
            <a:ext cx="175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Prove aggregate equivalence against official chemostat mDEB.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634C8C-1574-43DC-85A0-89716AA0E69E}"/>
              </a:ext>
            </a:extLst>
          </p:cNvPr>
          <p:cNvSpPr>
            <a:spLocks noGrp="1"/>
          </p:cNvSpPr>
          <p:nvPr/>
        </p:nvSpPr>
        <p:spPr>
          <a:xfrm>
            <a:off x="3429000" y="2667000"/>
            <a:ext cx="2152650" cy="2190750"/>
          </a:xfrm>
          <a:prstGeom prst="rect">
            <a:avLst/>
          </a:prstGeom>
          <a:solidFill>
            <a:srgbClr val="EEE4D6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656446-1AD8-432B-B3E7-EA996DB4CDDF}"/>
              </a:ext>
            </a:extLst>
          </p:cNvPr>
          <p:cNvSpPr>
            <a:spLocks noGrp="1"/>
          </p:cNvSpPr>
          <p:nvPr/>
        </p:nvSpPr>
        <p:spPr>
          <a:xfrm>
            <a:off x="3600450" y="28384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F6F8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F6F8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120726-24D5-480B-8C52-9A12F61ABECF}"/>
              </a:ext>
            </a:extLst>
          </p:cNvPr>
          <p:cNvSpPr>
            <a:spLocks noGrp="1"/>
          </p:cNvSpPr>
          <p:nvPr/>
        </p:nvSpPr>
        <p:spPr>
          <a:xfrm>
            <a:off x="4076700" y="2876550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Grid ABM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DAC018-0C0C-4DFD-A3C7-0C8B00ADF189}"/>
              </a:ext>
            </a:extLst>
          </p:cNvPr>
          <p:cNvSpPr>
            <a:spLocks noGrp="1"/>
          </p:cNvSpPr>
          <p:nvPr/>
        </p:nvSpPr>
        <p:spPr>
          <a:xfrm>
            <a:off x="3619500" y="3390900"/>
            <a:ext cx="175260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8E76B9-56B5-4BC0-B5C8-6E77A9E44B10}"/>
              </a:ext>
            </a:extLst>
          </p:cNvPr>
          <p:cNvSpPr>
            <a:spLocks noGrp="1"/>
          </p:cNvSpPr>
          <p:nvPr/>
        </p:nvSpPr>
        <p:spPr>
          <a:xfrm>
            <a:off x="3619500" y="3581400"/>
            <a:ext cx="17526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Agents occupy cells in a 2D or 3D lattice; substrates diffuse locally.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5FB755-F64B-4D18-8E3B-B134A9CED550}"/>
              </a:ext>
            </a:extLst>
          </p:cNvPr>
          <p:cNvSpPr>
            <a:spLocks noGrp="1"/>
          </p:cNvSpPr>
          <p:nvPr/>
        </p:nvSpPr>
        <p:spPr>
          <a:xfrm>
            <a:off x="3619500" y="4229100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563" b="1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G A T 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AF7BDC-EB54-48EF-A62D-C4F8B6F9D11C}"/>
              </a:ext>
            </a:extLst>
          </p:cNvPr>
          <p:cNvSpPr>
            <a:spLocks noGrp="1"/>
          </p:cNvSpPr>
          <p:nvPr/>
        </p:nvSpPr>
        <p:spPr>
          <a:xfrm>
            <a:off x="3619500" y="4419600"/>
            <a:ext cx="175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Create reserve-diverse populations after local pulses.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A68EF7-29EE-4E64-9691-43ECD354BA62}"/>
              </a:ext>
            </a:extLst>
          </p:cNvPr>
          <p:cNvSpPr>
            <a:spLocks noGrp="1"/>
          </p:cNvSpPr>
          <p:nvPr/>
        </p:nvSpPr>
        <p:spPr>
          <a:xfrm>
            <a:off x="6153150" y="2667000"/>
            <a:ext cx="2152650" cy="21907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B3E604-1F63-4498-AFE0-4720A6A472CB}"/>
              </a:ext>
            </a:extLst>
          </p:cNvPr>
          <p:cNvSpPr>
            <a:spLocks noGrp="1"/>
          </p:cNvSpPr>
          <p:nvPr/>
        </p:nvSpPr>
        <p:spPr>
          <a:xfrm>
            <a:off x="6324600" y="28384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F6F8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F6F8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3521DA-3A2D-487D-993A-939CE37C6CD2}"/>
              </a:ext>
            </a:extLst>
          </p:cNvPr>
          <p:cNvSpPr>
            <a:spLocks noGrp="1"/>
          </p:cNvSpPr>
          <p:nvPr/>
        </p:nvSpPr>
        <p:spPr>
          <a:xfrm>
            <a:off x="6800850" y="2876550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Particle or soil aggregate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590BE1-06D9-4C20-8677-85764C7B86AF}"/>
              </a:ext>
            </a:extLst>
          </p:cNvPr>
          <p:cNvSpPr>
            <a:spLocks noGrp="1"/>
          </p:cNvSpPr>
          <p:nvPr/>
        </p:nvSpPr>
        <p:spPr>
          <a:xfrm>
            <a:off x="6343650" y="3390900"/>
            <a:ext cx="175260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28CA63-76F8-4A18-B6CB-F2A74B165C27}"/>
              </a:ext>
            </a:extLst>
          </p:cNvPr>
          <p:cNvSpPr>
            <a:spLocks noGrp="1"/>
          </p:cNvSpPr>
          <p:nvPr/>
        </p:nvSpPr>
        <p:spPr>
          <a:xfrm>
            <a:off x="6343650" y="3581400"/>
            <a:ext cx="17526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Agents live on organic matter particles and experience microsites.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26615C-83A0-463D-A6F5-159D3CD9C4C6}"/>
              </a:ext>
            </a:extLst>
          </p:cNvPr>
          <p:cNvSpPr>
            <a:spLocks noGrp="1"/>
          </p:cNvSpPr>
          <p:nvPr/>
        </p:nvSpPr>
        <p:spPr>
          <a:xfrm>
            <a:off x="6343650" y="4229100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563" b="1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G A T 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F906CC-F821-4B9A-9BD4-8CE8868933BA}"/>
              </a:ext>
            </a:extLst>
          </p:cNvPr>
          <p:cNvSpPr>
            <a:spLocks noGrp="1"/>
          </p:cNvSpPr>
          <p:nvPr/>
        </p:nvSpPr>
        <p:spPr>
          <a:xfrm>
            <a:off x="6343650" y="4419600"/>
            <a:ext cx="175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Represent heterogeneous access to organic matter and nutrients.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D441BE-1638-488E-ACC6-84BB0B6F2DCF}"/>
              </a:ext>
            </a:extLst>
          </p:cNvPr>
          <p:cNvSpPr>
            <a:spLocks noGrp="1"/>
          </p:cNvSpPr>
          <p:nvPr/>
        </p:nvSpPr>
        <p:spPr>
          <a:xfrm>
            <a:off x="8877300" y="2667000"/>
            <a:ext cx="2152650" cy="21907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1CECA1-3B65-4635-B2D4-C02E81EC9DDA}"/>
              </a:ext>
            </a:extLst>
          </p:cNvPr>
          <p:cNvSpPr>
            <a:spLocks noGrp="1"/>
          </p:cNvSpPr>
          <p:nvPr/>
        </p:nvSpPr>
        <p:spPr>
          <a:xfrm>
            <a:off x="9048750" y="28384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F6F8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F6F8F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E59B43-938B-45ED-BE2D-5D622FD03CDC}"/>
              </a:ext>
            </a:extLst>
          </p:cNvPr>
          <p:cNvSpPr>
            <a:spLocks noGrp="1"/>
          </p:cNvSpPr>
          <p:nvPr/>
        </p:nvSpPr>
        <p:spPr>
          <a:xfrm>
            <a:off x="9525000" y="2876550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Reactive transport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5351E3-6C77-43BB-AD9B-82C2DEDDB0ED}"/>
              </a:ext>
            </a:extLst>
          </p:cNvPr>
          <p:cNvSpPr>
            <a:spLocks noGrp="1"/>
          </p:cNvSpPr>
          <p:nvPr/>
        </p:nvSpPr>
        <p:spPr>
          <a:xfrm>
            <a:off x="9067800" y="3390900"/>
            <a:ext cx="175260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4D7CBB-0F93-48B8-9D5F-B7E7195BC9DE}"/>
              </a:ext>
            </a:extLst>
          </p:cNvPr>
          <p:cNvSpPr>
            <a:spLocks noGrp="1"/>
          </p:cNvSpPr>
          <p:nvPr/>
        </p:nvSpPr>
        <p:spPr>
          <a:xfrm>
            <a:off x="9067800" y="3581400"/>
            <a:ext cx="17526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Substrate fields follow diffusion, advection, and reaction equations.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0F5252-E894-4F66-ADF5-5A70123FD0AD}"/>
              </a:ext>
            </a:extLst>
          </p:cNvPr>
          <p:cNvSpPr>
            <a:spLocks noGrp="1"/>
          </p:cNvSpPr>
          <p:nvPr/>
        </p:nvSpPr>
        <p:spPr>
          <a:xfrm>
            <a:off x="9067800" y="4229100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563" b="1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G A T 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1FD124-4016-4E8B-B00E-15871FD59E80}"/>
              </a:ext>
            </a:extLst>
          </p:cNvPr>
          <p:cNvSpPr>
            <a:spLocks noGrp="1"/>
          </p:cNvSpPr>
          <p:nvPr/>
        </p:nvSpPr>
        <p:spPr>
          <a:xfrm>
            <a:off x="9067800" y="4419600"/>
            <a:ext cx="175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Let agents act as biological source-sink terms.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F92D05-96E0-4D74-B160-653C4E1CF07A}"/>
              </a:ext>
            </a:extLst>
          </p:cNvPr>
          <p:cNvSpPr>
            <a:spLocks noGrp="1"/>
          </p:cNvSpPr>
          <p:nvPr/>
        </p:nvSpPr>
        <p:spPr>
          <a:xfrm>
            <a:off x="895350" y="5124450"/>
            <a:ext cx="9906000" cy="19050"/>
          </a:xfrm>
          <a:prstGeom prst="rect">
            <a:avLst/>
          </a:prstGeom>
          <a:solidFill>
            <a:srgbClr val="2F6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414858-B21D-4CBE-BAEC-8FD61C72408B}"/>
              </a:ext>
            </a:extLst>
          </p:cNvPr>
          <p:cNvSpPr>
            <a:spLocks noGrp="1"/>
          </p:cNvSpPr>
          <p:nvPr/>
        </p:nvSpPr>
        <p:spPr>
          <a:xfrm>
            <a:off x="1724025" y="5067300"/>
            <a:ext cx="114300" cy="114300"/>
          </a:xfrm>
          <a:prstGeom prst="rect">
            <a:avLst/>
          </a:prstGeom>
          <a:solidFill>
            <a:srgbClr val="2F6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CBD6F10-2B02-4006-96E1-655DC5D55227}"/>
              </a:ext>
            </a:extLst>
          </p:cNvPr>
          <p:cNvSpPr>
            <a:spLocks noGrp="1"/>
          </p:cNvSpPr>
          <p:nvPr/>
        </p:nvSpPr>
        <p:spPr>
          <a:xfrm>
            <a:off x="4448175" y="5067300"/>
            <a:ext cx="114300" cy="114300"/>
          </a:xfrm>
          <a:prstGeom prst="rect">
            <a:avLst/>
          </a:prstGeom>
          <a:solidFill>
            <a:srgbClr val="2F6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781D32-686F-4F38-87A1-79523CFB7192}"/>
              </a:ext>
            </a:extLst>
          </p:cNvPr>
          <p:cNvSpPr>
            <a:spLocks noGrp="1"/>
          </p:cNvSpPr>
          <p:nvPr/>
        </p:nvSpPr>
        <p:spPr>
          <a:xfrm>
            <a:off x="7172325" y="5067300"/>
            <a:ext cx="114300" cy="114300"/>
          </a:xfrm>
          <a:prstGeom prst="rect">
            <a:avLst/>
          </a:prstGeom>
          <a:solidFill>
            <a:srgbClr val="2F6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613C230-A6CC-4622-8BF9-8255322159E3}"/>
              </a:ext>
            </a:extLst>
          </p:cNvPr>
          <p:cNvSpPr>
            <a:spLocks noGrp="1"/>
          </p:cNvSpPr>
          <p:nvPr/>
        </p:nvSpPr>
        <p:spPr>
          <a:xfrm>
            <a:off x="9896475" y="5067300"/>
            <a:ext cx="114300" cy="114300"/>
          </a:xfrm>
          <a:prstGeom prst="rect">
            <a:avLst/>
          </a:prstGeom>
          <a:solidFill>
            <a:srgbClr val="2F6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C609FF0-6132-4AC8-9D59-3398611EBE7D}"/>
              </a:ext>
            </a:extLst>
          </p:cNvPr>
          <p:cNvSpPr>
            <a:spLocks noGrp="1"/>
          </p:cNvSpPr>
          <p:nvPr/>
        </p:nvSpPr>
        <p:spPr>
          <a:xfrm>
            <a:off x="2533650" y="5600700"/>
            <a:ext cx="695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A disciplined build path keeps the first prototype falsifiable before adding spatial complexity.</a:t>
            </a:r>
          </a:p>
        </p:txBody>
      </p:sp>
      <p:sp>
        <p:nvSpPr>
          <p:cNvPr id="39" name="footer-rule">
            <a:extLst>
              <a:ext uri="{FF2B5EF4-FFF2-40B4-BE49-F238E27FC236}">
                <a16:creationId xmlns:a16="http://schemas.microsoft.com/office/drawing/2014/main" id="{386AFFA9-A566-4322-AEE2-098BDBB8CD0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footer-source">
            <a:extLst>
              <a:ext uri="{FF2B5EF4-FFF2-40B4-BE49-F238E27FC236}">
                <a16:creationId xmlns:a16="http://schemas.microsoft.com/office/drawing/2014/main" id="{A893D1FB-1709-4035-8B10-6E404430A866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Source basis: environment options, minimal prototype, and next-step sections</a:t>
            </a:r>
          </a:p>
        </p:txBody>
      </p:sp>
      <p:sp>
        <p:nvSpPr>
          <p:cNvPr id="41" name="footer-page">
            <a:extLst>
              <a:ext uri="{FF2B5EF4-FFF2-40B4-BE49-F238E27FC236}">
                <a16:creationId xmlns:a16="http://schemas.microsoft.com/office/drawing/2014/main" id="{EA0D6AF1-1066-4463-8270-A6675F159D29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5716C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5716C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21366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-background">
            <a:extLst>
              <a:ext uri="{FF2B5EF4-FFF2-40B4-BE49-F238E27FC236}">
                <a16:creationId xmlns:a16="http://schemas.microsoft.com/office/drawing/2014/main" id="{BCB01864-9993-4B7D-8FF4-6FC029AAEC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0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C29296C-2FEC-4087-921B-5DD1BD5DDCCB}"/>
              </a:ext>
            </a:extLst>
          </p:cNvPr>
          <p:cNvSpPr>
            <a:spLocks noGrp="1"/>
          </p:cNvSpPr>
          <p:nvPr/>
        </p:nvSpPr>
        <p:spPr>
          <a:xfrm>
            <a:off x="552450" y="485775"/>
            <a:ext cx="114300" cy="114300"/>
          </a:xfrm>
          <a:prstGeom prst="rect">
            <a:avLst/>
          </a:prstGeom>
          <a:solidFill>
            <a:srgbClr val="2F6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BA906AC7-6922-43D0-A7DF-2B66C1F25DF0}"/>
              </a:ext>
            </a:extLst>
          </p:cNvPr>
          <p:cNvSpPr>
            <a:spLocks noGrp="1"/>
          </p:cNvSpPr>
          <p:nvPr/>
        </p:nvSpPr>
        <p:spPr>
          <a:xfrm>
            <a:off x="781050" y="4381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O B S E R V A T I O N   L A Y E 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6AACA9-6ECC-4B8E-980E-8D32C75F96FF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953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Microfluidics provides the observables that bulk curves hide.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22C85C-4522-4507-BF51-44D5DC03B164}"/>
              </a:ext>
            </a:extLst>
          </p:cNvPr>
          <p:cNvSpPr>
            <a:spLocks noGrp="1"/>
          </p:cNvSpPr>
          <p:nvPr/>
        </p:nvSpPr>
        <p:spPr>
          <a:xfrm>
            <a:off x="781050" y="2057400"/>
            <a:ext cx="3429000" cy="3409950"/>
          </a:xfrm>
          <a:prstGeom prst="rect">
            <a:avLst/>
          </a:prstGeom>
          <a:solidFill>
            <a:srgbClr val="1420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EAB1BC-4EBD-4573-AE5B-A592CD4C25BB}"/>
              </a:ext>
            </a:extLst>
          </p:cNvPr>
          <p:cNvSpPr>
            <a:spLocks noGrp="1"/>
          </p:cNvSpPr>
          <p:nvPr/>
        </p:nvSpPr>
        <p:spPr>
          <a:xfrm>
            <a:off x="1066800" y="23241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Hidden agent state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736A5B-534A-44BD-92F9-5FBB4CF72C06}"/>
              </a:ext>
            </a:extLst>
          </p:cNvPr>
          <p:cNvSpPr>
            <a:spLocks noGrp="1"/>
          </p:cNvSpPr>
          <p:nvPr/>
        </p:nvSpPr>
        <p:spPr>
          <a:xfrm>
            <a:off x="1066800" y="2952750"/>
            <a:ext cx="76200" cy="76200"/>
          </a:xfrm>
          <a:prstGeom prst="rect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E9F000-3B9D-4620-99E4-E4F85688BDB9}"/>
              </a:ext>
            </a:extLst>
          </p:cNvPr>
          <p:cNvSpPr>
            <a:spLocks noGrp="1"/>
          </p:cNvSpPr>
          <p:nvPr/>
        </p:nvSpPr>
        <p:spPr>
          <a:xfrm>
            <a:off x="1295400" y="291465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8DDCD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DDCD"/>
                </a:solidFill>
                <a:latin typeface="Avenir Next"/>
                <a:ea typeface="Avenir Next"/>
                <a:cs typeface="Avenir Next"/>
              </a:rPr>
              <a:t>V or cell length/area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F7C4CA-6037-410A-A73F-7869CAC97850}"/>
              </a:ext>
            </a:extLst>
          </p:cNvPr>
          <p:cNvSpPr>
            <a:spLocks noGrp="1"/>
          </p:cNvSpPr>
          <p:nvPr/>
        </p:nvSpPr>
        <p:spPr>
          <a:xfrm>
            <a:off x="1066800" y="3371850"/>
            <a:ext cx="76200" cy="76200"/>
          </a:xfrm>
          <a:prstGeom prst="rect">
            <a:avLst/>
          </a:prstGeom>
          <a:solidFill>
            <a:srgbClr val="B96E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49E2AE-28F4-429A-BA12-3BDF15C0ED68}"/>
              </a:ext>
            </a:extLst>
          </p:cNvPr>
          <p:cNvSpPr>
            <a:spLocks noGrp="1"/>
          </p:cNvSpPr>
          <p:nvPr/>
        </p:nvSpPr>
        <p:spPr>
          <a:xfrm>
            <a:off x="1295400" y="333375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8DDCD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DDCD"/>
                </a:solidFill>
                <a:latin typeface="Avenir Next"/>
                <a:ea typeface="Avenir Next"/>
                <a:cs typeface="Avenir Next"/>
              </a:rPr>
              <a:t>xC and xN reserve densities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282FD7-8910-4EED-B7B8-2152669400E5}"/>
              </a:ext>
            </a:extLst>
          </p:cNvPr>
          <p:cNvSpPr>
            <a:spLocks noGrp="1"/>
          </p:cNvSpPr>
          <p:nvPr/>
        </p:nvSpPr>
        <p:spPr>
          <a:xfrm>
            <a:off x="1066800" y="3790950"/>
            <a:ext cx="76200" cy="76200"/>
          </a:xfrm>
          <a:prstGeom prst="rect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5EA3BD-3E2B-4830-8FA9-5F602F8D3982}"/>
              </a:ext>
            </a:extLst>
          </p:cNvPr>
          <p:cNvSpPr>
            <a:spLocks noGrp="1"/>
          </p:cNvSpPr>
          <p:nvPr/>
        </p:nvSpPr>
        <p:spPr>
          <a:xfrm>
            <a:off x="1295400" y="375285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8DDCD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DDCD"/>
                </a:solidFill>
                <a:latin typeface="Avenir Next"/>
                <a:ea typeface="Avenir Next"/>
                <a:cs typeface="Avenir Next"/>
              </a:rPr>
              <a:t>age or generation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BFE317-FF7B-4B75-9D7D-75988577FB31}"/>
              </a:ext>
            </a:extLst>
          </p:cNvPr>
          <p:cNvSpPr>
            <a:spLocks noGrp="1"/>
          </p:cNvSpPr>
          <p:nvPr/>
        </p:nvSpPr>
        <p:spPr>
          <a:xfrm>
            <a:off x="1066800" y="4210050"/>
            <a:ext cx="76200" cy="76200"/>
          </a:xfrm>
          <a:prstGeom prst="rect">
            <a:avLst/>
          </a:prstGeom>
          <a:solidFill>
            <a:srgbClr val="B96E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D441B8-D94D-42E1-B5E2-F77F3426EACA}"/>
              </a:ext>
            </a:extLst>
          </p:cNvPr>
          <p:cNvSpPr>
            <a:spLocks noGrp="1"/>
          </p:cNvSpPr>
          <p:nvPr/>
        </p:nvSpPr>
        <p:spPr>
          <a:xfrm>
            <a:off x="1295400" y="417195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8DDCD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DDCD"/>
                </a:solidFill>
                <a:latin typeface="Avenir Next"/>
                <a:ea typeface="Avenir Next"/>
                <a:cs typeface="Avenir Next"/>
              </a:rPr>
              <a:t>strain or phenotype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49637C-8A6D-47F5-A44A-41390EA30148}"/>
              </a:ext>
            </a:extLst>
          </p:cNvPr>
          <p:cNvSpPr>
            <a:spLocks noGrp="1"/>
          </p:cNvSpPr>
          <p:nvPr/>
        </p:nvSpPr>
        <p:spPr>
          <a:xfrm>
            <a:off x="1066800" y="4629150"/>
            <a:ext cx="76200" cy="76200"/>
          </a:xfrm>
          <a:prstGeom prst="rect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C62DD5-6A1E-49EB-9B60-B4B55DCD04CF}"/>
              </a:ext>
            </a:extLst>
          </p:cNvPr>
          <p:cNvSpPr>
            <a:spLocks noGrp="1"/>
          </p:cNvSpPr>
          <p:nvPr/>
        </p:nvSpPr>
        <p:spPr>
          <a:xfrm>
            <a:off x="1295400" y="459105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8DDCD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DDCD"/>
                </a:solidFill>
                <a:latin typeface="Avenir Next"/>
                <a:ea typeface="Avenir Next"/>
                <a:cs typeface="Avenir Next"/>
              </a:rPr>
              <a:t>local substrate exposure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447830-3EEF-42E6-B8FC-426926519A47}"/>
              </a:ext>
            </a:extLst>
          </p:cNvPr>
          <p:cNvSpPr>
            <a:spLocks noGrp="1"/>
          </p:cNvSpPr>
          <p:nvPr/>
        </p:nvSpPr>
        <p:spPr>
          <a:xfrm>
            <a:off x="5010150" y="2000250"/>
            <a:ext cx="5962650" cy="381000"/>
          </a:xfrm>
          <a:prstGeom prst="rect">
            <a:avLst/>
          </a:prstGeom>
          <a:solidFill>
            <a:srgbClr val="EEE4D6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FCA944-5E08-4686-A57B-0B2E67930185}"/>
              </a:ext>
            </a:extLst>
          </p:cNvPr>
          <p:cNvSpPr>
            <a:spLocks noGrp="1"/>
          </p:cNvSpPr>
          <p:nvPr/>
        </p:nvSpPr>
        <p:spPr>
          <a:xfrm>
            <a:off x="5219700" y="2133600"/>
            <a:ext cx="1524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MEASUREMENT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D37E95-0C4E-4A81-90EF-7059320C39E0}"/>
              </a:ext>
            </a:extLst>
          </p:cNvPr>
          <p:cNvSpPr>
            <a:spLocks noGrp="1"/>
          </p:cNvSpPr>
          <p:nvPr/>
        </p:nvSpPr>
        <p:spPr>
          <a:xfrm>
            <a:off x="7200900" y="2133600"/>
            <a:ext cx="1809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MODEL INTERPRETATION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2A08F3-9B80-4440-8E7F-834E39342064}"/>
              </a:ext>
            </a:extLst>
          </p:cNvPr>
          <p:cNvSpPr>
            <a:spLocks noGrp="1"/>
          </p:cNvSpPr>
          <p:nvPr/>
        </p:nvSpPr>
        <p:spPr>
          <a:xfrm>
            <a:off x="9372600" y="2133600"/>
            <a:ext cx="12001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FIT SIGNAL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2C391B-D668-4F47-A453-10BDA6952F0D}"/>
              </a:ext>
            </a:extLst>
          </p:cNvPr>
          <p:cNvSpPr>
            <a:spLocks noGrp="1"/>
          </p:cNvSpPr>
          <p:nvPr/>
        </p:nvSpPr>
        <p:spPr>
          <a:xfrm>
            <a:off x="5010150" y="2438400"/>
            <a:ext cx="596265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A278A1-76CD-42D3-9810-640D304CB0A7}"/>
              </a:ext>
            </a:extLst>
          </p:cNvPr>
          <p:cNvSpPr>
            <a:spLocks noGrp="1"/>
          </p:cNvSpPr>
          <p:nvPr/>
        </p:nvSpPr>
        <p:spPr>
          <a:xfrm>
            <a:off x="5219700" y="25527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Cell length / area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54B0A7-45B6-4F4E-AFB4-27AF47D5759C}"/>
              </a:ext>
            </a:extLst>
          </p:cNvPr>
          <p:cNvSpPr>
            <a:spLocks noGrp="1"/>
          </p:cNvSpPr>
          <p:nvPr/>
        </p:nvSpPr>
        <p:spPr>
          <a:xfrm>
            <a:off x="7200900" y="25527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6F8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F6F8F"/>
                </a:solidFill>
                <a:latin typeface="Avenir Next"/>
                <a:ea typeface="Avenir Next"/>
                <a:cs typeface="Avenir Next"/>
              </a:rPr>
              <a:t>structural biomass V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A25394-1621-4CC4-BD3E-831DF1CF3662}"/>
              </a:ext>
            </a:extLst>
          </p:cNvPr>
          <p:cNvSpPr>
            <a:spLocks noGrp="1"/>
          </p:cNvSpPr>
          <p:nvPr/>
        </p:nvSpPr>
        <p:spPr>
          <a:xfrm>
            <a:off x="9372600" y="2552700"/>
            <a:ext cx="1295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growth trajectory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085C8D-BDE8-434D-A62F-6D0CC01D01D9}"/>
              </a:ext>
            </a:extLst>
          </p:cNvPr>
          <p:cNvSpPr>
            <a:spLocks noGrp="1"/>
          </p:cNvSpPr>
          <p:nvPr/>
        </p:nvSpPr>
        <p:spPr>
          <a:xfrm>
            <a:off x="5010150" y="2990850"/>
            <a:ext cx="596265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6317F48-04E4-4B62-A217-3D2E6086D93E}"/>
              </a:ext>
            </a:extLst>
          </p:cNvPr>
          <p:cNvSpPr>
            <a:spLocks noGrp="1"/>
          </p:cNvSpPr>
          <p:nvPr/>
        </p:nvSpPr>
        <p:spPr>
          <a:xfrm>
            <a:off x="5219700" y="31051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Fluorescence reporter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E4B592-8469-4F77-A532-04ED6FC81A88}"/>
              </a:ext>
            </a:extLst>
          </p:cNvPr>
          <p:cNvSpPr>
            <a:spLocks noGrp="1"/>
          </p:cNvSpPr>
          <p:nvPr/>
        </p:nvSpPr>
        <p:spPr>
          <a:xfrm>
            <a:off x="7200900" y="31051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6F8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F6F8F"/>
                </a:solidFill>
                <a:latin typeface="Avenir Next"/>
                <a:ea typeface="Avenir Next"/>
                <a:cs typeface="Avenir Next"/>
              </a:rPr>
              <a:t>reserve density or stress state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869655-57F6-4C96-93D3-96C955E4B0CF}"/>
              </a:ext>
            </a:extLst>
          </p:cNvPr>
          <p:cNvSpPr>
            <a:spLocks noGrp="1"/>
          </p:cNvSpPr>
          <p:nvPr/>
        </p:nvSpPr>
        <p:spPr>
          <a:xfrm>
            <a:off x="9372600" y="3105150"/>
            <a:ext cx="1295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C/N stress, enzymes, ribosomes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6515E5-4382-4304-B0A0-742B2F3B7BAA}"/>
              </a:ext>
            </a:extLst>
          </p:cNvPr>
          <p:cNvSpPr>
            <a:spLocks noGrp="1"/>
          </p:cNvSpPr>
          <p:nvPr/>
        </p:nvSpPr>
        <p:spPr>
          <a:xfrm>
            <a:off x="5010150" y="3543300"/>
            <a:ext cx="596265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D87300-CC6D-4C2F-AB73-F0900C929896}"/>
              </a:ext>
            </a:extLst>
          </p:cNvPr>
          <p:cNvSpPr>
            <a:spLocks noGrp="1"/>
          </p:cNvSpPr>
          <p:nvPr/>
        </p:nvSpPr>
        <p:spPr>
          <a:xfrm>
            <a:off x="5219700" y="36576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Division event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91C4DA0-5CFB-4D7A-999C-53D0D31A7D5E}"/>
              </a:ext>
            </a:extLst>
          </p:cNvPr>
          <p:cNvSpPr>
            <a:spLocks noGrp="1"/>
          </p:cNvSpPr>
          <p:nvPr/>
        </p:nvSpPr>
        <p:spPr>
          <a:xfrm>
            <a:off x="7200900" y="36576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6F8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F6F8F"/>
                </a:solidFill>
                <a:latin typeface="Avenir Next"/>
                <a:ea typeface="Avenir Next"/>
                <a:cs typeface="Avenir Next"/>
              </a:rPr>
              <a:t>V crosses threshold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35A336B-E207-4FDF-860A-0F501BB4E74E}"/>
              </a:ext>
            </a:extLst>
          </p:cNvPr>
          <p:cNvSpPr>
            <a:spLocks noGrp="1"/>
          </p:cNvSpPr>
          <p:nvPr/>
        </p:nvSpPr>
        <p:spPr>
          <a:xfrm>
            <a:off x="9372600" y="3657600"/>
            <a:ext cx="1295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interdivision distribution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1A56E74-1378-47D1-9306-7E3D3C82CFF2}"/>
              </a:ext>
            </a:extLst>
          </p:cNvPr>
          <p:cNvSpPr>
            <a:spLocks noGrp="1"/>
          </p:cNvSpPr>
          <p:nvPr/>
        </p:nvSpPr>
        <p:spPr>
          <a:xfrm>
            <a:off x="5010150" y="4095750"/>
            <a:ext cx="596265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AC4058-E63C-4052-AA53-4A5112963847}"/>
              </a:ext>
            </a:extLst>
          </p:cNvPr>
          <p:cNvSpPr>
            <a:spLocks noGrp="1"/>
          </p:cNvSpPr>
          <p:nvPr/>
        </p:nvSpPr>
        <p:spPr>
          <a:xfrm>
            <a:off x="5219700" y="42100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Death or dormancy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E1641D7-EF2B-4335-9837-1F91125BD036}"/>
              </a:ext>
            </a:extLst>
          </p:cNvPr>
          <p:cNvSpPr>
            <a:spLocks noGrp="1"/>
          </p:cNvSpPr>
          <p:nvPr/>
        </p:nvSpPr>
        <p:spPr>
          <a:xfrm>
            <a:off x="7200900" y="42100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6F8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F6F8F"/>
                </a:solidFill>
                <a:latin typeface="Avenir Next"/>
                <a:ea typeface="Avenir Next"/>
                <a:cs typeface="Avenir Next"/>
              </a:rPr>
              <a:t>reserve deficit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712FA75-CC81-4C93-8147-CCBCE1F89559}"/>
              </a:ext>
            </a:extLst>
          </p:cNvPr>
          <p:cNvSpPr>
            <a:spLocks noGrp="1"/>
          </p:cNvSpPr>
          <p:nvPr/>
        </p:nvSpPr>
        <p:spPr>
          <a:xfrm>
            <a:off x="9372600" y="4210050"/>
            <a:ext cx="1295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survival and recovery probability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34EA6DE-FB5F-4C13-9ED3-6B74E863F5E3}"/>
              </a:ext>
            </a:extLst>
          </p:cNvPr>
          <p:cNvSpPr>
            <a:spLocks noGrp="1"/>
          </p:cNvSpPr>
          <p:nvPr/>
        </p:nvSpPr>
        <p:spPr>
          <a:xfrm>
            <a:off x="5010150" y="4648200"/>
            <a:ext cx="596265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AA61BE3-D9D6-4B68-8588-E3DCB4A04D7C}"/>
              </a:ext>
            </a:extLst>
          </p:cNvPr>
          <p:cNvSpPr>
            <a:spLocks noGrp="1"/>
          </p:cNvSpPr>
          <p:nvPr/>
        </p:nvSpPr>
        <p:spPr>
          <a:xfrm>
            <a:off x="5219700" y="47625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Channel position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37C14CB-C760-4580-BD87-8734C7362A65}"/>
              </a:ext>
            </a:extLst>
          </p:cNvPr>
          <p:cNvSpPr>
            <a:spLocks noGrp="1"/>
          </p:cNvSpPr>
          <p:nvPr/>
        </p:nvSpPr>
        <p:spPr>
          <a:xfrm>
            <a:off x="7200900" y="47625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6F8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F6F8F"/>
                </a:solidFill>
                <a:latin typeface="Avenir Next"/>
                <a:ea typeface="Avenir Next"/>
                <a:cs typeface="Avenir Next"/>
              </a:rPr>
              <a:t>local nutrient history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6F48630-177B-46C6-8BEE-957D5304E28D}"/>
              </a:ext>
            </a:extLst>
          </p:cNvPr>
          <p:cNvSpPr>
            <a:spLocks noGrp="1"/>
          </p:cNvSpPr>
          <p:nvPr/>
        </p:nvSpPr>
        <p:spPr>
          <a:xfrm>
            <a:off x="9372600" y="4762500"/>
            <a:ext cx="1295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spatial gradient response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92A815A-619C-4CF9-9292-9B018C25A610}"/>
              </a:ext>
            </a:extLst>
          </p:cNvPr>
          <p:cNvSpPr>
            <a:spLocks noGrp="1"/>
          </p:cNvSpPr>
          <p:nvPr/>
        </p:nvSpPr>
        <p:spPr>
          <a:xfrm>
            <a:off x="5010150" y="5657850"/>
            <a:ext cx="5962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2F6F8F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BA1D79B-5910-4090-8ED6-80FD31E2E4C4}"/>
              </a:ext>
            </a:extLst>
          </p:cNvPr>
          <p:cNvSpPr>
            <a:spLocks noGrp="1"/>
          </p:cNvSpPr>
          <p:nvPr/>
        </p:nvSpPr>
        <p:spPr>
          <a:xfrm>
            <a:off x="5238750" y="5753100"/>
            <a:ext cx="550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The observation layer is the contract: hidden reserves must explain what the microscope can actually measure.</a:t>
            </a:r>
          </a:p>
        </p:txBody>
      </p:sp>
      <p:sp>
        <p:nvSpPr>
          <p:cNvPr id="43" name="footer-rule">
            <a:extLst>
              <a:ext uri="{FF2B5EF4-FFF2-40B4-BE49-F238E27FC236}">
                <a16:creationId xmlns:a16="http://schemas.microsoft.com/office/drawing/2014/main" id="{A8F60EBD-2442-442A-83ED-756F42FE6BA3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footer-source">
            <a:extLst>
              <a:ext uri="{FF2B5EF4-FFF2-40B4-BE49-F238E27FC236}">
                <a16:creationId xmlns:a16="http://schemas.microsoft.com/office/drawing/2014/main" id="{D9DE9309-A9D0-4A1B-9E0A-92F0EB5E73E7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Source basis: measurements to fit and observation model from microfluidics brainstorm</a:t>
            </a:r>
          </a:p>
        </p:txBody>
      </p:sp>
      <p:sp>
        <p:nvSpPr>
          <p:cNvPr id="45" name="footer-page">
            <a:extLst>
              <a:ext uri="{FF2B5EF4-FFF2-40B4-BE49-F238E27FC236}">
                <a16:creationId xmlns:a16="http://schemas.microsoft.com/office/drawing/2014/main" id="{D57B46D3-008D-4FD4-BD6C-6FE456877712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5716C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5716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32661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-background">
            <a:extLst>
              <a:ext uri="{FF2B5EF4-FFF2-40B4-BE49-F238E27FC236}">
                <a16:creationId xmlns:a16="http://schemas.microsoft.com/office/drawing/2014/main" id="{12602D27-392A-4E8E-925D-226245CED2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0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6090CEE-C970-45A9-BB56-95A163D75EFE}"/>
              </a:ext>
            </a:extLst>
          </p:cNvPr>
          <p:cNvSpPr>
            <a:spLocks noGrp="1"/>
          </p:cNvSpPr>
          <p:nvPr/>
        </p:nvSpPr>
        <p:spPr>
          <a:xfrm>
            <a:off x="552450" y="485775"/>
            <a:ext cx="114300" cy="114300"/>
          </a:xfrm>
          <a:prstGeom prst="rect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679EA0C2-39F5-4F18-93B4-9C2EE1243536}"/>
              </a:ext>
            </a:extLst>
          </p:cNvPr>
          <p:cNvSpPr>
            <a:spLocks noGrp="1"/>
          </p:cNvSpPr>
          <p:nvPr/>
        </p:nvSpPr>
        <p:spPr>
          <a:xfrm>
            <a:off x="781050" y="4381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F I T T I N G   W O R K F L O 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EB7F5A-E9C4-4C5F-8CB4-2014CAF6615A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953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Fitting should match trajectories and event statistics together.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319E46-8A1D-4F6C-AC76-E1C1166C168F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1581150" cy="933450"/>
          </a:xfrm>
          <a:prstGeom prst="rect">
            <a:avLst/>
          </a:prstGeom>
          <a:solidFill>
            <a:srgbClr val="EEE4D6"/>
          </a:solidFill>
          <a:ln w="9525">
            <a:solidFill>
              <a:srgbClr val="58735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D2721C-878E-477E-88C6-5F3593A65DCD}"/>
              </a:ext>
            </a:extLst>
          </p:cNvPr>
          <p:cNvSpPr>
            <a:spLocks noGrp="1"/>
          </p:cNvSpPr>
          <p:nvPr/>
        </p:nvSpPr>
        <p:spPr>
          <a:xfrm>
            <a:off x="857250" y="251460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8735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58735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5A070C-4451-47E8-A94C-4CD4290425F3}"/>
              </a:ext>
            </a:extLst>
          </p:cNvPr>
          <p:cNvSpPr>
            <a:spLocks noGrp="1"/>
          </p:cNvSpPr>
          <p:nvPr/>
        </p:nvSpPr>
        <p:spPr>
          <a:xfrm>
            <a:off x="1257300" y="2514600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Segment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C5CDD8-6D5B-41B6-8151-9FDBCDDBC8A8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cells and lineages</a:t>
            </a:r>
          </a:p>
        </p:txBody>
      </p:sp>
      <p:sp>
        <p:nvSpPr>
          <p:cNvPr id="9" name="fit-0-line-a">
            <a:extLst>
              <a:ext uri="{FF2B5EF4-FFF2-40B4-BE49-F238E27FC236}">
                <a16:creationId xmlns:a16="http://schemas.microsoft.com/office/drawing/2014/main" id="{20A6FD24-45E1-4DE1-995D-94620E5FCB5A}"/>
              </a:ext>
            </a:extLst>
          </p:cNvPr>
          <p:cNvSpPr>
            <a:spLocks noGrp="1"/>
          </p:cNvSpPr>
          <p:nvPr/>
        </p:nvSpPr>
        <p:spPr>
          <a:xfrm>
            <a:off x="2266950" y="2752725"/>
            <a:ext cx="282892" cy="19050"/>
          </a:xfrm>
          <a:prstGeom prst="rect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fit-0-line-b">
            <a:extLst>
              <a:ext uri="{FF2B5EF4-FFF2-40B4-BE49-F238E27FC236}">
                <a16:creationId xmlns:a16="http://schemas.microsoft.com/office/drawing/2014/main" id="{DA31B6C4-8B68-4B82-A1A7-D27069FC968B}"/>
              </a:ext>
            </a:extLst>
          </p:cNvPr>
          <p:cNvSpPr>
            <a:spLocks noGrp="1"/>
          </p:cNvSpPr>
          <p:nvPr/>
        </p:nvSpPr>
        <p:spPr>
          <a:xfrm>
            <a:off x="2549843" y="2752725"/>
            <a:ext cx="19050" cy="552450"/>
          </a:xfrm>
          <a:prstGeom prst="rect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fit-0-line-c">
            <a:extLst>
              <a:ext uri="{FF2B5EF4-FFF2-40B4-BE49-F238E27FC236}">
                <a16:creationId xmlns:a16="http://schemas.microsoft.com/office/drawing/2014/main" id="{680DDFD5-3218-460A-9663-27C3E01CBB2B}"/>
              </a:ext>
            </a:extLst>
          </p:cNvPr>
          <p:cNvSpPr>
            <a:spLocks noGrp="1"/>
          </p:cNvSpPr>
          <p:nvPr/>
        </p:nvSpPr>
        <p:spPr>
          <a:xfrm>
            <a:off x="2549843" y="3305175"/>
            <a:ext cx="231458" cy="19050"/>
          </a:xfrm>
          <a:prstGeom prst="rect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fit-0-tip">
            <a:extLst>
              <a:ext uri="{FF2B5EF4-FFF2-40B4-BE49-F238E27FC236}">
                <a16:creationId xmlns:a16="http://schemas.microsoft.com/office/drawing/2014/main" id="{A4411AED-6C54-487B-BC1F-D41E449A688E}"/>
              </a:ext>
            </a:extLst>
          </p:cNvPr>
          <p:cNvSpPr>
            <a:spLocks noGrp="1"/>
          </p:cNvSpPr>
          <p:nvPr/>
        </p:nvSpPr>
        <p:spPr>
          <a:xfrm>
            <a:off x="2743200" y="3267075"/>
            <a:ext cx="76200" cy="76200"/>
          </a:xfrm>
          <a:prstGeom prst="diamond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C839C7-BAE3-4629-A082-7D919D73685A}"/>
              </a:ext>
            </a:extLst>
          </p:cNvPr>
          <p:cNvSpPr>
            <a:spLocks noGrp="1"/>
          </p:cNvSpPr>
          <p:nvPr/>
        </p:nvSpPr>
        <p:spPr>
          <a:xfrm>
            <a:off x="2781300" y="2895600"/>
            <a:ext cx="1581150" cy="933450"/>
          </a:xfrm>
          <a:prstGeom prst="rect">
            <a:avLst/>
          </a:prstGeom>
          <a:solidFill>
            <a:srgbClr val="EEE4D6"/>
          </a:solidFill>
          <a:ln w="9525">
            <a:solidFill>
              <a:srgbClr val="58735F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0AD820-FD0B-47D7-A299-9375BB655502}"/>
              </a:ext>
            </a:extLst>
          </p:cNvPr>
          <p:cNvSpPr>
            <a:spLocks noGrp="1"/>
          </p:cNvSpPr>
          <p:nvPr/>
        </p:nvSpPr>
        <p:spPr>
          <a:xfrm>
            <a:off x="2952750" y="306705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8735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58735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0C8B99-A61B-4AE1-B48D-B76800287377}"/>
              </a:ext>
            </a:extLst>
          </p:cNvPr>
          <p:cNvSpPr>
            <a:spLocks noGrp="1"/>
          </p:cNvSpPr>
          <p:nvPr/>
        </p:nvSpPr>
        <p:spPr>
          <a:xfrm>
            <a:off x="3352800" y="3067050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Extract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ACEE45-11F7-41F0-8EA9-5425285BC792}"/>
              </a:ext>
            </a:extLst>
          </p:cNvPr>
          <p:cNvSpPr>
            <a:spLocks noGrp="1"/>
          </p:cNvSpPr>
          <p:nvPr/>
        </p:nvSpPr>
        <p:spPr>
          <a:xfrm>
            <a:off x="2971800" y="3390900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length, area, fluorescence, division, death</a:t>
            </a:r>
          </a:p>
        </p:txBody>
      </p:sp>
      <p:sp>
        <p:nvSpPr>
          <p:cNvPr id="17" name="fit-1-line-a">
            <a:extLst>
              <a:ext uri="{FF2B5EF4-FFF2-40B4-BE49-F238E27FC236}">
                <a16:creationId xmlns:a16="http://schemas.microsoft.com/office/drawing/2014/main" id="{AB929955-D3C5-46FF-9DD5-6DED5FF9BDA8}"/>
              </a:ext>
            </a:extLst>
          </p:cNvPr>
          <p:cNvSpPr>
            <a:spLocks noGrp="1"/>
          </p:cNvSpPr>
          <p:nvPr/>
        </p:nvSpPr>
        <p:spPr>
          <a:xfrm>
            <a:off x="4362450" y="3305175"/>
            <a:ext cx="282892" cy="19050"/>
          </a:xfrm>
          <a:prstGeom prst="rect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fit-1-line-b">
            <a:extLst>
              <a:ext uri="{FF2B5EF4-FFF2-40B4-BE49-F238E27FC236}">
                <a16:creationId xmlns:a16="http://schemas.microsoft.com/office/drawing/2014/main" id="{1A2BC740-45F0-4C33-B956-FB509C2045E7}"/>
              </a:ext>
            </a:extLst>
          </p:cNvPr>
          <p:cNvSpPr>
            <a:spLocks noGrp="1"/>
          </p:cNvSpPr>
          <p:nvPr/>
        </p:nvSpPr>
        <p:spPr>
          <a:xfrm>
            <a:off x="4645343" y="2752725"/>
            <a:ext cx="19050" cy="552450"/>
          </a:xfrm>
          <a:prstGeom prst="rect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fit-1-line-c">
            <a:extLst>
              <a:ext uri="{FF2B5EF4-FFF2-40B4-BE49-F238E27FC236}">
                <a16:creationId xmlns:a16="http://schemas.microsoft.com/office/drawing/2014/main" id="{6A5C0E1E-A841-4D98-AF49-E505045A99A0}"/>
              </a:ext>
            </a:extLst>
          </p:cNvPr>
          <p:cNvSpPr>
            <a:spLocks noGrp="1"/>
          </p:cNvSpPr>
          <p:nvPr/>
        </p:nvSpPr>
        <p:spPr>
          <a:xfrm>
            <a:off x="4645343" y="2752725"/>
            <a:ext cx="231458" cy="19050"/>
          </a:xfrm>
          <a:prstGeom prst="rect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fit-1-tip">
            <a:extLst>
              <a:ext uri="{FF2B5EF4-FFF2-40B4-BE49-F238E27FC236}">
                <a16:creationId xmlns:a16="http://schemas.microsoft.com/office/drawing/2014/main" id="{9FAA5A49-BE14-4465-8C82-E4CC6D889BE8}"/>
              </a:ext>
            </a:extLst>
          </p:cNvPr>
          <p:cNvSpPr>
            <a:spLocks noGrp="1"/>
          </p:cNvSpPr>
          <p:nvPr/>
        </p:nvSpPr>
        <p:spPr>
          <a:xfrm>
            <a:off x="4838700" y="2714625"/>
            <a:ext cx="76200" cy="76200"/>
          </a:xfrm>
          <a:prstGeom prst="diamond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0D6230-FD6E-4D34-B9EF-91C2F9E903B1}"/>
              </a:ext>
            </a:extLst>
          </p:cNvPr>
          <p:cNvSpPr>
            <a:spLocks noGrp="1"/>
          </p:cNvSpPr>
          <p:nvPr/>
        </p:nvSpPr>
        <p:spPr>
          <a:xfrm>
            <a:off x="4876800" y="2343150"/>
            <a:ext cx="1581150" cy="933450"/>
          </a:xfrm>
          <a:prstGeom prst="rect">
            <a:avLst/>
          </a:prstGeom>
          <a:solidFill>
            <a:srgbClr val="EEE4D6"/>
          </a:solidFill>
          <a:ln w="9525">
            <a:solidFill>
              <a:srgbClr val="58735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B19CB9-C1FC-4A0A-8C42-08F47855F175}"/>
              </a:ext>
            </a:extLst>
          </p:cNvPr>
          <p:cNvSpPr>
            <a:spLocks noGrp="1"/>
          </p:cNvSpPr>
          <p:nvPr/>
        </p:nvSpPr>
        <p:spPr>
          <a:xfrm>
            <a:off x="5048250" y="251460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8735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58735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C47348-5BE5-45B9-99BC-06E5036FBB1B}"/>
              </a:ext>
            </a:extLst>
          </p:cNvPr>
          <p:cNvSpPr>
            <a:spLocks noGrp="1"/>
          </p:cNvSpPr>
          <p:nvPr/>
        </p:nvSpPr>
        <p:spPr>
          <a:xfrm>
            <a:off x="5448300" y="2514600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Simulate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1BFFE9-6B00-4F23-B976-8D7FD1DC3245}"/>
              </a:ext>
            </a:extLst>
          </p:cNvPr>
          <p:cNvSpPr>
            <a:spLocks noGrp="1"/>
          </p:cNvSpPr>
          <p:nvPr/>
        </p:nvSpPr>
        <p:spPr>
          <a:xfrm>
            <a:off x="5067300" y="2838450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same nutrient schedule and flow</a:t>
            </a:r>
          </a:p>
        </p:txBody>
      </p:sp>
      <p:sp>
        <p:nvSpPr>
          <p:cNvPr id="25" name="fit-2-line-a">
            <a:extLst>
              <a:ext uri="{FF2B5EF4-FFF2-40B4-BE49-F238E27FC236}">
                <a16:creationId xmlns:a16="http://schemas.microsoft.com/office/drawing/2014/main" id="{85F5368D-16A8-4AE8-9098-93D4DE51021C}"/>
              </a:ext>
            </a:extLst>
          </p:cNvPr>
          <p:cNvSpPr>
            <a:spLocks noGrp="1"/>
          </p:cNvSpPr>
          <p:nvPr/>
        </p:nvSpPr>
        <p:spPr>
          <a:xfrm>
            <a:off x="6457950" y="2752725"/>
            <a:ext cx="282893" cy="19050"/>
          </a:xfrm>
          <a:prstGeom prst="rect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fit-2-line-b">
            <a:extLst>
              <a:ext uri="{FF2B5EF4-FFF2-40B4-BE49-F238E27FC236}">
                <a16:creationId xmlns:a16="http://schemas.microsoft.com/office/drawing/2014/main" id="{52D81577-562E-463D-8357-2F4951C7EC11}"/>
              </a:ext>
            </a:extLst>
          </p:cNvPr>
          <p:cNvSpPr>
            <a:spLocks noGrp="1"/>
          </p:cNvSpPr>
          <p:nvPr/>
        </p:nvSpPr>
        <p:spPr>
          <a:xfrm>
            <a:off x="6740843" y="2752725"/>
            <a:ext cx="19050" cy="552450"/>
          </a:xfrm>
          <a:prstGeom prst="rect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fit-2-line-c">
            <a:extLst>
              <a:ext uri="{FF2B5EF4-FFF2-40B4-BE49-F238E27FC236}">
                <a16:creationId xmlns:a16="http://schemas.microsoft.com/office/drawing/2014/main" id="{96F4A82B-51C2-46B1-A611-DF175B9C244C}"/>
              </a:ext>
            </a:extLst>
          </p:cNvPr>
          <p:cNvSpPr>
            <a:spLocks noGrp="1"/>
          </p:cNvSpPr>
          <p:nvPr/>
        </p:nvSpPr>
        <p:spPr>
          <a:xfrm>
            <a:off x="6740843" y="3305175"/>
            <a:ext cx="231457" cy="19050"/>
          </a:xfrm>
          <a:prstGeom prst="rect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fit-2-tip">
            <a:extLst>
              <a:ext uri="{FF2B5EF4-FFF2-40B4-BE49-F238E27FC236}">
                <a16:creationId xmlns:a16="http://schemas.microsoft.com/office/drawing/2014/main" id="{9EF5C809-A273-449B-8F90-B6B8D7F9B955}"/>
              </a:ext>
            </a:extLst>
          </p:cNvPr>
          <p:cNvSpPr>
            <a:spLocks noGrp="1"/>
          </p:cNvSpPr>
          <p:nvPr/>
        </p:nvSpPr>
        <p:spPr>
          <a:xfrm>
            <a:off x="6934200" y="3267075"/>
            <a:ext cx="76200" cy="76200"/>
          </a:xfrm>
          <a:prstGeom prst="diamond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176A63-81AC-4E74-8510-DDD0592AF0F7}"/>
              </a:ext>
            </a:extLst>
          </p:cNvPr>
          <p:cNvSpPr>
            <a:spLocks noGrp="1"/>
          </p:cNvSpPr>
          <p:nvPr/>
        </p:nvSpPr>
        <p:spPr>
          <a:xfrm>
            <a:off x="6972300" y="2895600"/>
            <a:ext cx="1581150" cy="933450"/>
          </a:xfrm>
          <a:prstGeom prst="rect">
            <a:avLst/>
          </a:prstGeom>
          <a:solidFill>
            <a:srgbClr val="142026"/>
          </a:solidFill>
          <a:ln w="9525">
            <a:solidFill>
              <a:srgbClr val="142026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3849F9-5663-4D40-8843-9B03D11F74A0}"/>
              </a:ext>
            </a:extLst>
          </p:cNvPr>
          <p:cNvSpPr>
            <a:spLocks noGrp="1"/>
          </p:cNvSpPr>
          <p:nvPr/>
        </p:nvSpPr>
        <p:spPr>
          <a:xfrm>
            <a:off x="7143750" y="306705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63EA5A1-60FF-47AF-839A-466DDF12ED80}"/>
              </a:ext>
            </a:extLst>
          </p:cNvPr>
          <p:cNvSpPr>
            <a:spLocks noGrp="1"/>
          </p:cNvSpPr>
          <p:nvPr/>
        </p:nvSpPr>
        <p:spPr>
          <a:xfrm>
            <a:off x="7543800" y="3067050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Fit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A3B71B1-F42C-49BD-A8B0-8169158D3940}"/>
              </a:ext>
            </a:extLst>
          </p:cNvPr>
          <p:cNvSpPr>
            <a:spLocks noGrp="1"/>
          </p:cNvSpPr>
          <p:nvPr/>
        </p:nvSpPr>
        <p:spPr>
          <a:xfrm>
            <a:off x="7162800" y="3390900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D6E1DA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D6E1DA"/>
                </a:solidFill>
                <a:latin typeface="Avenir Next"/>
                <a:ea typeface="Avenir Next"/>
                <a:cs typeface="Avenir Next"/>
              </a:rPr>
              <a:t>continuous traces plus discrete events</a:t>
            </a:r>
          </a:p>
        </p:txBody>
      </p:sp>
      <p:sp>
        <p:nvSpPr>
          <p:cNvPr id="33" name="fit-3-line-a">
            <a:extLst>
              <a:ext uri="{FF2B5EF4-FFF2-40B4-BE49-F238E27FC236}">
                <a16:creationId xmlns:a16="http://schemas.microsoft.com/office/drawing/2014/main" id="{B04BAA0E-44C2-4ECF-9BBD-389CC1619DA4}"/>
              </a:ext>
            </a:extLst>
          </p:cNvPr>
          <p:cNvSpPr>
            <a:spLocks noGrp="1"/>
          </p:cNvSpPr>
          <p:nvPr/>
        </p:nvSpPr>
        <p:spPr>
          <a:xfrm>
            <a:off x="8553450" y="3305175"/>
            <a:ext cx="282893" cy="19050"/>
          </a:xfrm>
          <a:prstGeom prst="rect">
            <a:avLst/>
          </a:prstGeom>
          <a:solidFill>
            <a:srgbClr val="B96E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fit-3-line-b">
            <a:extLst>
              <a:ext uri="{FF2B5EF4-FFF2-40B4-BE49-F238E27FC236}">
                <a16:creationId xmlns:a16="http://schemas.microsoft.com/office/drawing/2014/main" id="{115F4DB8-2D36-4054-B2D6-12119927BE92}"/>
              </a:ext>
            </a:extLst>
          </p:cNvPr>
          <p:cNvSpPr>
            <a:spLocks noGrp="1"/>
          </p:cNvSpPr>
          <p:nvPr/>
        </p:nvSpPr>
        <p:spPr>
          <a:xfrm>
            <a:off x="8836343" y="2752725"/>
            <a:ext cx="19050" cy="552450"/>
          </a:xfrm>
          <a:prstGeom prst="rect">
            <a:avLst/>
          </a:prstGeom>
          <a:solidFill>
            <a:srgbClr val="B96E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fit-3-line-c">
            <a:extLst>
              <a:ext uri="{FF2B5EF4-FFF2-40B4-BE49-F238E27FC236}">
                <a16:creationId xmlns:a16="http://schemas.microsoft.com/office/drawing/2014/main" id="{8C583D66-1F66-479B-A459-3A566EFB21D4}"/>
              </a:ext>
            </a:extLst>
          </p:cNvPr>
          <p:cNvSpPr>
            <a:spLocks noGrp="1"/>
          </p:cNvSpPr>
          <p:nvPr/>
        </p:nvSpPr>
        <p:spPr>
          <a:xfrm>
            <a:off x="8836343" y="2752725"/>
            <a:ext cx="231457" cy="19050"/>
          </a:xfrm>
          <a:prstGeom prst="rect">
            <a:avLst/>
          </a:prstGeom>
          <a:solidFill>
            <a:srgbClr val="B96E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fit-3-tip">
            <a:extLst>
              <a:ext uri="{FF2B5EF4-FFF2-40B4-BE49-F238E27FC236}">
                <a16:creationId xmlns:a16="http://schemas.microsoft.com/office/drawing/2014/main" id="{D84474C9-A9CF-4D33-93F6-8F2463755BEB}"/>
              </a:ext>
            </a:extLst>
          </p:cNvPr>
          <p:cNvSpPr>
            <a:spLocks noGrp="1"/>
          </p:cNvSpPr>
          <p:nvPr/>
        </p:nvSpPr>
        <p:spPr>
          <a:xfrm>
            <a:off x="9029700" y="2714625"/>
            <a:ext cx="76200" cy="76200"/>
          </a:xfrm>
          <a:prstGeom prst="diamond">
            <a:avLst/>
          </a:prstGeom>
          <a:solidFill>
            <a:srgbClr val="B96E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EE549A9-F5FA-47BA-A8A3-073BFDF9B4E9}"/>
              </a:ext>
            </a:extLst>
          </p:cNvPr>
          <p:cNvSpPr>
            <a:spLocks noGrp="1"/>
          </p:cNvSpPr>
          <p:nvPr/>
        </p:nvSpPr>
        <p:spPr>
          <a:xfrm>
            <a:off x="9067800" y="2343150"/>
            <a:ext cx="1581150" cy="933450"/>
          </a:xfrm>
          <a:prstGeom prst="rect">
            <a:avLst/>
          </a:prstGeom>
          <a:solidFill>
            <a:srgbClr val="EEE4D6"/>
          </a:solidFill>
          <a:ln w="9525">
            <a:solidFill>
              <a:srgbClr val="58735F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DF27E60-7A95-41DC-829E-4B3060AB245E}"/>
              </a:ext>
            </a:extLst>
          </p:cNvPr>
          <p:cNvSpPr>
            <a:spLocks noGrp="1"/>
          </p:cNvSpPr>
          <p:nvPr/>
        </p:nvSpPr>
        <p:spPr>
          <a:xfrm>
            <a:off x="9239250" y="251460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8735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58735F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EBEB68D-8CE3-4700-AC89-8BF63819F332}"/>
              </a:ext>
            </a:extLst>
          </p:cNvPr>
          <p:cNvSpPr>
            <a:spLocks noGrp="1"/>
          </p:cNvSpPr>
          <p:nvPr/>
        </p:nvSpPr>
        <p:spPr>
          <a:xfrm>
            <a:off x="9639300" y="2514600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Validate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F2E3127-3E08-4D9C-92FB-55C7893C6447}"/>
              </a:ext>
            </a:extLst>
          </p:cNvPr>
          <p:cNvSpPr>
            <a:spLocks noGrp="1"/>
          </p:cNvSpPr>
          <p:nvPr/>
        </p:nvSpPr>
        <p:spPr>
          <a:xfrm>
            <a:off x="9258300" y="2838450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held-out perturbations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F6C3D93-BC34-4495-BCB4-2B20888A904B}"/>
              </a:ext>
            </a:extLst>
          </p:cNvPr>
          <p:cNvSpPr>
            <a:spLocks noGrp="1"/>
          </p:cNvSpPr>
          <p:nvPr/>
        </p:nvSpPr>
        <p:spPr>
          <a:xfrm>
            <a:off x="1200150" y="4476750"/>
            <a:ext cx="60007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CE39E84-F858-41B7-8D14-5C588B770B71}"/>
              </a:ext>
            </a:extLst>
          </p:cNvPr>
          <p:cNvSpPr>
            <a:spLocks noGrp="1"/>
          </p:cNvSpPr>
          <p:nvPr/>
        </p:nvSpPr>
        <p:spPr>
          <a:xfrm>
            <a:off x="1447800" y="466725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Joint objective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EF162E5-E9FA-41F9-8954-BA22ACEBA5FB}"/>
              </a:ext>
            </a:extLst>
          </p:cNvPr>
          <p:cNvSpPr>
            <a:spLocks noGrp="1"/>
          </p:cNvSpPr>
          <p:nvPr/>
        </p:nvSpPr>
        <p:spPr>
          <a:xfrm>
            <a:off x="1447800" y="4972050"/>
            <a:ext cx="91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2F6F8F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E5737E9-0B6B-4BC5-ADA4-2FE9B57CACD7}"/>
              </a:ext>
            </a:extLst>
          </p:cNvPr>
          <p:cNvSpPr>
            <a:spLocks noGrp="1"/>
          </p:cNvSpPr>
          <p:nvPr/>
        </p:nvSpPr>
        <p:spPr>
          <a:xfrm>
            <a:off x="1495425" y="5019675"/>
            <a:ext cx="8191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1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51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cell-size trajectory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03258D7-A436-41BD-8B45-7FB541239EE9}"/>
              </a:ext>
            </a:extLst>
          </p:cNvPr>
          <p:cNvSpPr>
            <a:spLocks noGrp="1"/>
          </p:cNvSpPr>
          <p:nvPr/>
        </p:nvSpPr>
        <p:spPr>
          <a:xfrm>
            <a:off x="2400300" y="4972050"/>
            <a:ext cx="114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+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516684D-1346-4C4D-A419-6E0CC8AD3295}"/>
              </a:ext>
            </a:extLst>
          </p:cNvPr>
          <p:cNvSpPr>
            <a:spLocks noGrp="1"/>
          </p:cNvSpPr>
          <p:nvPr/>
        </p:nvSpPr>
        <p:spPr>
          <a:xfrm>
            <a:off x="2552700" y="4972050"/>
            <a:ext cx="914400" cy="209550"/>
          </a:xfrm>
          <a:prstGeom prst="rect">
            <a:avLst/>
          </a:prstGeom>
          <a:solidFill>
            <a:srgbClr val="EEE4D6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9886177-760A-4F61-A566-171BE9E7F3A5}"/>
              </a:ext>
            </a:extLst>
          </p:cNvPr>
          <p:cNvSpPr>
            <a:spLocks noGrp="1"/>
          </p:cNvSpPr>
          <p:nvPr/>
        </p:nvSpPr>
        <p:spPr>
          <a:xfrm>
            <a:off x="2600325" y="5019675"/>
            <a:ext cx="8191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1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51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division-time distribution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9DEEBC-9218-4E03-A555-78B02805B525}"/>
              </a:ext>
            </a:extLst>
          </p:cNvPr>
          <p:cNvSpPr>
            <a:spLocks noGrp="1"/>
          </p:cNvSpPr>
          <p:nvPr/>
        </p:nvSpPr>
        <p:spPr>
          <a:xfrm>
            <a:off x="3505200" y="4972050"/>
            <a:ext cx="114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+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1D41F84-D773-4DEE-A959-B2AB962F678D}"/>
              </a:ext>
            </a:extLst>
          </p:cNvPr>
          <p:cNvSpPr>
            <a:spLocks noGrp="1"/>
          </p:cNvSpPr>
          <p:nvPr/>
        </p:nvSpPr>
        <p:spPr>
          <a:xfrm>
            <a:off x="3657600" y="4972050"/>
            <a:ext cx="91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2F6F8F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5C6AB97-14DC-4C01-A6B7-3DE3BE60E125}"/>
              </a:ext>
            </a:extLst>
          </p:cNvPr>
          <p:cNvSpPr>
            <a:spLocks noGrp="1"/>
          </p:cNvSpPr>
          <p:nvPr/>
        </p:nvSpPr>
        <p:spPr>
          <a:xfrm>
            <a:off x="3705225" y="5019675"/>
            <a:ext cx="8191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1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51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fluorescence trajectory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A4F5BDB-EF6E-4247-83F9-37210FF78185}"/>
              </a:ext>
            </a:extLst>
          </p:cNvPr>
          <p:cNvSpPr>
            <a:spLocks noGrp="1"/>
          </p:cNvSpPr>
          <p:nvPr/>
        </p:nvSpPr>
        <p:spPr>
          <a:xfrm>
            <a:off x="4610100" y="4972050"/>
            <a:ext cx="114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+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5EDB4C6-A374-4AC7-8815-201B1C49B892}"/>
              </a:ext>
            </a:extLst>
          </p:cNvPr>
          <p:cNvSpPr>
            <a:spLocks noGrp="1"/>
          </p:cNvSpPr>
          <p:nvPr/>
        </p:nvSpPr>
        <p:spPr>
          <a:xfrm>
            <a:off x="4762500" y="4972050"/>
            <a:ext cx="914400" cy="209550"/>
          </a:xfrm>
          <a:prstGeom prst="rect">
            <a:avLst/>
          </a:prstGeom>
          <a:solidFill>
            <a:srgbClr val="EEE4D6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9B42783-AA9F-4BC4-82B7-E250F5BAC58C}"/>
              </a:ext>
            </a:extLst>
          </p:cNvPr>
          <p:cNvSpPr>
            <a:spLocks noGrp="1"/>
          </p:cNvSpPr>
          <p:nvPr/>
        </p:nvSpPr>
        <p:spPr>
          <a:xfrm>
            <a:off x="4810125" y="5019675"/>
            <a:ext cx="8191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1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51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lineage correlation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1AB6C87-D379-4BFF-AF15-121E23E466CC}"/>
              </a:ext>
            </a:extLst>
          </p:cNvPr>
          <p:cNvSpPr>
            <a:spLocks noGrp="1"/>
          </p:cNvSpPr>
          <p:nvPr/>
        </p:nvSpPr>
        <p:spPr>
          <a:xfrm>
            <a:off x="5715000" y="4972050"/>
            <a:ext cx="114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+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DF0182F-5329-48E9-8F82-16FAEF29EEFE}"/>
              </a:ext>
            </a:extLst>
          </p:cNvPr>
          <p:cNvSpPr>
            <a:spLocks noGrp="1"/>
          </p:cNvSpPr>
          <p:nvPr/>
        </p:nvSpPr>
        <p:spPr>
          <a:xfrm>
            <a:off x="5867400" y="4972050"/>
            <a:ext cx="91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2F6F8F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740D93D-7FF0-4D92-BA3A-2452F9C6FD7A}"/>
              </a:ext>
            </a:extLst>
          </p:cNvPr>
          <p:cNvSpPr>
            <a:spLocks noGrp="1"/>
          </p:cNvSpPr>
          <p:nvPr/>
        </p:nvSpPr>
        <p:spPr>
          <a:xfrm>
            <a:off x="5915025" y="5019675"/>
            <a:ext cx="8191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1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51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population-size trajectory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E421A3E-F761-4BBA-80F2-AD198F327615}"/>
              </a:ext>
            </a:extLst>
          </p:cNvPr>
          <p:cNvSpPr>
            <a:spLocks noGrp="1"/>
          </p:cNvSpPr>
          <p:nvPr/>
        </p:nvSpPr>
        <p:spPr>
          <a:xfrm>
            <a:off x="7962900" y="4343400"/>
            <a:ext cx="2762250" cy="1009650"/>
          </a:xfrm>
          <a:prstGeom prst="rect">
            <a:avLst/>
          </a:prstGeom>
          <a:solidFill>
            <a:srgbClr val="1D4E63"/>
          </a:solidFill>
          <a:ln w="9525">
            <a:solidFill>
              <a:srgbClr val="1D4E63"/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0D05FEC-CB94-4CB7-979F-838641346934}"/>
              </a:ext>
            </a:extLst>
          </p:cNvPr>
          <p:cNvSpPr>
            <a:spLocks noGrp="1"/>
          </p:cNvSpPr>
          <p:nvPr/>
        </p:nvSpPr>
        <p:spPr>
          <a:xfrm>
            <a:off x="8134350" y="4495800"/>
            <a:ext cx="24193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This is where microfluidics earns its keep: the fit sees distributions, lineage memory, and recovery dynamics, not just mean growth.</a:t>
            </a:r>
          </a:p>
        </p:txBody>
      </p:sp>
      <p:sp>
        <p:nvSpPr>
          <p:cNvPr id="59" name="footer-rule">
            <a:extLst>
              <a:ext uri="{FF2B5EF4-FFF2-40B4-BE49-F238E27FC236}">
                <a16:creationId xmlns:a16="http://schemas.microsoft.com/office/drawing/2014/main" id="{65A75014-8F82-460C-9ADB-A7955278BB81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footer-source">
            <a:extLst>
              <a:ext uri="{FF2B5EF4-FFF2-40B4-BE49-F238E27FC236}">
                <a16:creationId xmlns:a16="http://schemas.microsoft.com/office/drawing/2014/main" id="{17AA1292-4AEA-4159-8C3B-7AB096E0411A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Source basis: fitting strategy, useful parameters, and joint loss target</a:t>
            </a:r>
          </a:p>
        </p:txBody>
      </p:sp>
      <p:sp>
        <p:nvSpPr>
          <p:cNvPr id="61" name="footer-page">
            <a:extLst>
              <a:ext uri="{FF2B5EF4-FFF2-40B4-BE49-F238E27FC236}">
                <a16:creationId xmlns:a16="http://schemas.microsoft.com/office/drawing/2014/main" id="{24E34A11-A2E1-4C88-9FB0-588252928376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5716C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5716C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34855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-background">
            <a:extLst>
              <a:ext uri="{FF2B5EF4-FFF2-40B4-BE49-F238E27FC236}">
                <a16:creationId xmlns:a16="http://schemas.microsoft.com/office/drawing/2014/main" id="{2FD22CB7-7C83-4F7A-91BF-F27ABB4236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0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046BF550-E8E5-454B-9018-D3A07628DEA9}"/>
              </a:ext>
            </a:extLst>
          </p:cNvPr>
          <p:cNvSpPr>
            <a:spLocks noGrp="1"/>
          </p:cNvSpPr>
          <p:nvPr/>
        </p:nvSpPr>
        <p:spPr>
          <a:xfrm>
            <a:off x="552450" y="485775"/>
            <a:ext cx="114300" cy="114300"/>
          </a:xfrm>
          <a:prstGeom prst="rect">
            <a:avLst/>
          </a:prstGeom>
          <a:solidFill>
            <a:srgbClr val="B96E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B03EFE6E-2B54-419A-83B6-4AD6AADFFB45}"/>
              </a:ext>
            </a:extLst>
          </p:cNvPr>
          <p:cNvSpPr>
            <a:spLocks noGrp="1"/>
          </p:cNvSpPr>
          <p:nvPr/>
        </p:nvSpPr>
        <p:spPr>
          <a:xfrm>
            <a:off x="781050" y="4381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E X P E R I M E N T   D E S I G 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D76CEC-9392-47BE-A8E3-ADA503653680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9144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Perturbation experiments separate reserve memory from inherited traits.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AA42CC-F002-4C8F-8E6B-F5D49FE7B2A6}"/>
              </a:ext>
            </a:extLst>
          </p:cNvPr>
          <p:cNvSpPr>
            <a:spLocks noGrp="1"/>
          </p:cNvSpPr>
          <p:nvPr/>
        </p:nvSpPr>
        <p:spPr>
          <a:xfrm>
            <a:off x="914400" y="2076450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Experiment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C9D633-6105-40A2-96AD-D0C5C814BD5A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1181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reserve memory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AC8902-65DE-405D-90C0-5529CE8AB40F}"/>
              </a:ext>
            </a:extLst>
          </p:cNvPr>
          <p:cNvSpPr>
            <a:spLocks noGrp="1"/>
          </p:cNvSpPr>
          <p:nvPr/>
        </p:nvSpPr>
        <p:spPr>
          <a:xfrm>
            <a:off x="5410200" y="2000250"/>
            <a:ext cx="1181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trait inheritance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787A-0483-4E56-8D5D-B8896A8360E8}"/>
              </a:ext>
            </a:extLst>
          </p:cNvPr>
          <p:cNvSpPr>
            <a:spLocks noGrp="1"/>
          </p:cNvSpPr>
          <p:nvPr/>
        </p:nvSpPr>
        <p:spPr>
          <a:xfrm>
            <a:off x="7105650" y="2000250"/>
            <a:ext cx="1181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local heterogeneity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F9AF82-69FE-4AF2-91C9-1A02EC53520D}"/>
              </a:ext>
            </a:extLst>
          </p:cNvPr>
          <p:cNvSpPr>
            <a:spLocks noGrp="1"/>
          </p:cNvSpPr>
          <p:nvPr/>
        </p:nvSpPr>
        <p:spPr>
          <a:xfrm>
            <a:off x="8801100" y="2000250"/>
            <a:ext cx="1181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stress recovery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DDF836-7764-4323-BA4B-3BF6DC36EF52}"/>
              </a:ext>
            </a:extLst>
          </p:cNvPr>
          <p:cNvSpPr>
            <a:spLocks noGrp="1"/>
          </p:cNvSpPr>
          <p:nvPr/>
        </p:nvSpPr>
        <p:spPr>
          <a:xfrm>
            <a:off x="819150" y="2343150"/>
            <a:ext cx="973455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DC3FCA-AB35-45A4-A1C3-A40FC142C5A2}"/>
              </a:ext>
            </a:extLst>
          </p:cNvPr>
          <p:cNvSpPr>
            <a:spLocks noGrp="1"/>
          </p:cNvSpPr>
          <p:nvPr/>
        </p:nvSpPr>
        <p:spPr>
          <a:xfrm>
            <a:off x="914400" y="2457450"/>
            <a:ext cx="226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C pulse then N limitation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33DF68-66CE-4527-91C9-9A32E575F7F9}"/>
              </a:ext>
            </a:extLst>
          </p:cNvPr>
          <p:cNvSpPr>
            <a:spLocks noGrp="1"/>
          </p:cNvSpPr>
          <p:nvPr/>
        </p:nvSpPr>
        <p:spPr>
          <a:xfrm>
            <a:off x="3943350" y="2419350"/>
            <a:ext cx="1047750" cy="209550"/>
          </a:xfrm>
          <a:prstGeom prst="rect">
            <a:avLst/>
          </a:prstGeom>
          <a:solidFill>
            <a:srgbClr val="B96E3B"/>
          </a:solidFill>
          <a:ln w="9525">
            <a:solidFill>
              <a:srgbClr val="B96E3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C0BB88-896B-46A4-8FFB-3FAB051C7F0A}"/>
              </a:ext>
            </a:extLst>
          </p:cNvPr>
          <p:cNvSpPr>
            <a:spLocks noGrp="1"/>
          </p:cNvSpPr>
          <p:nvPr/>
        </p:nvSpPr>
        <p:spPr>
          <a:xfrm>
            <a:off x="4019550" y="246697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strong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BD6A75-5280-400D-868B-779C60FBE354}"/>
              </a:ext>
            </a:extLst>
          </p:cNvPr>
          <p:cNvSpPr>
            <a:spLocks noGrp="1"/>
          </p:cNvSpPr>
          <p:nvPr/>
        </p:nvSpPr>
        <p:spPr>
          <a:xfrm>
            <a:off x="5638800" y="2419350"/>
            <a:ext cx="781050" cy="209550"/>
          </a:xfrm>
          <a:prstGeom prst="rect">
            <a:avLst/>
          </a:prstGeom>
          <a:solidFill>
            <a:srgbClr val="EEE4D6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1FCA3A-992D-46A6-AF9B-D75E2E4B0F81}"/>
              </a:ext>
            </a:extLst>
          </p:cNvPr>
          <p:cNvSpPr>
            <a:spLocks noGrp="1"/>
          </p:cNvSpPr>
          <p:nvPr/>
        </p:nvSpPr>
        <p:spPr>
          <a:xfrm>
            <a:off x="5715000" y="246697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weak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F3B00F-B2EB-4DEB-B27A-E4BE9895641F}"/>
              </a:ext>
            </a:extLst>
          </p:cNvPr>
          <p:cNvSpPr>
            <a:spLocks noGrp="1"/>
          </p:cNvSpPr>
          <p:nvPr/>
        </p:nvSpPr>
        <p:spPr>
          <a:xfrm>
            <a:off x="7334250" y="2419350"/>
            <a:ext cx="781050" cy="209550"/>
          </a:xfrm>
          <a:prstGeom prst="rect">
            <a:avLst/>
          </a:prstGeom>
          <a:solidFill>
            <a:srgbClr val="EEE4D6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2B81CC-AD36-47D2-8C34-4D896C8BB31A}"/>
              </a:ext>
            </a:extLst>
          </p:cNvPr>
          <p:cNvSpPr>
            <a:spLocks noGrp="1"/>
          </p:cNvSpPr>
          <p:nvPr/>
        </p:nvSpPr>
        <p:spPr>
          <a:xfrm>
            <a:off x="7410450" y="246697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weak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572CF3-9001-48B3-B5AB-C062D4EA9890}"/>
              </a:ext>
            </a:extLst>
          </p:cNvPr>
          <p:cNvSpPr>
            <a:spLocks noGrp="1"/>
          </p:cNvSpPr>
          <p:nvPr/>
        </p:nvSpPr>
        <p:spPr>
          <a:xfrm>
            <a:off x="9029700" y="2419350"/>
            <a:ext cx="781050" cy="209550"/>
          </a:xfrm>
          <a:prstGeom prst="rect">
            <a:avLst/>
          </a:prstGeom>
          <a:solidFill>
            <a:srgbClr val="EEE4D6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4ECACC-202D-4CCE-A0B4-DFD937C6F2C1}"/>
              </a:ext>
            </a:extLst>
          </p:cNvPr>
          <p:cNvSpPr>
            <a:spLocks noGrp="1"/>
          </p:cNvSpPr>
          <p:nvPr/>
        </p:nvSpPr>
        <p:spPr>
          <a:xfrm>
            <a:off x="9105900" y="246697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weak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24E9FF-8C8E-4CE1-A466-205AAD499371}"/>
              </a:ext>
            </a:extLst>
          </p:cNvPr>
          <p:cNvSpPr>
            <a:spLocks noGrp="1"/>
          </p:cNvSpPr>
          <p:nvPr/>
        </p:nvSpPr>
        <p:spPr>
          <a:xfrm>
            <a:off x="819150" y="2857500"/>
            <a:ext cx="973455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2E6F82-69B5-4ADB-8BBD-908A62D8FDFC}"/>
              </a:ext>
            </a:extLst>
          </p:cNvPr>
          <p:cNvSpPr>
            <a:spLocks noGrp="1"/>
          </p:cNvSpPr>
          <p:nvPr/>
        </p:nvSpPr>
        <p:spPr>
          <a:xfrm>
            <a:off x="914400" y="2971800"/>
            <a:ext cx="226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N pulse after C starvation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45B2DF-71E1-477D-A493-A72B7C64F5A7}"/>
              </a:ext>
            </a:extLst>
          </p:cNvPr>
          <p:cNvSpPr>
            <a:spLocks noGrp="1"/>
          </p:cNvSpPr>
          <p:nvPr/>
        </p:nvSpPr>
        <p:spPr>
          <a:xfrm>
            <a:off x="3943350" y="2933700"/>
            <a:ext cx="1047750" cy="209550"/>
          </a:xfrm>
          <a:prstGeom prst="rect">
            <a:avLst/>
          </a:prstGeom>
          <a:solidFill>
            <a:srgbClr val="B96E3B"/>
          </a:solidFill>
          <a:ln w="9525">
            <a:solidFill>
              <a:srgbClr val="B96E3B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17589D-D861-4698-B0FD-1952779B2BC1}"/>
              </a:ext>
            </a:extLst>
          </p:cNvPr>
          <p:cNvSpPr>
            <a:spLocks noGrp="1"/>
          </p:cNvSpPr>
          <p:nvPr/>
        </p:nvSpPr>
        <p:spPr>
          <a:xfrm>
            <a:off x="4019550" y="298132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strong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E65694-55FF-4E8B-80D3-897E79657696}"/>
              </a:ext>
            </a:extLst>
          </p:cNvPr>
          <p:cNvSpPr>
            <a:spLocks noGrp="1"/>
          </p:cNvSpPr>
          <p:nvPr/>
        </p:nvSpPr>
        <p:spPr>
          <a:xfrm>
            <a:off x="5638800" y="2933700"/>
            <a:ext cx="781050" cy="209550"/>
          </a:xfrm>
          <a:prstGeom prst="rect">
            <a:avLst/>
          </a:prstGeom>
          <a:solidFill>
            <a:srgbClr val="EEE4D6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709EEA-31E1-4AD6-8B78-865FBD185099}"/>
              </a:ext>
            </a:extLst>
          </p:cNvPr>
          <p:cNvSpPr>
            <a:spLocks noGrp="1"/>
          </p:cNvSpPr>
          <p:nvPr/>
        </p:nvSpPr>
        <p:spPr>
          <a:xfrm>
            <a:off x="5715000" y="298132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weak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76297D-F6A6-4188-B0DB-E536C09C29FD}"/>
              </a:ext>
            </a:extLst>
          </p:cNvPr>
          <p:cNvSpPr>
            <a:spLocks noGrp="1"/>
          </p:cNvSpPr>
          <p:nvPr/>
        </p:nvSpPr>
        <p:spPr>
          <a:xfrm>
            <a:off x="7334250" y="2933700"/>
            <a:ext cx="781050" cy="209550"/>
          </a:xfrm>
          <a:prstGeom prst="rect">
            <a:avLst/>
          </a:prstGeom>
          <a:solidFill>
            <a:srgbClr val="EEE4D6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912FBE-5574-48EA-B3DC-4495A7445FFC}"/>
              </a:ext>
            </a:extLst>
          </p:cNvPr>
          <p:cNvSpPr>
            <a:spLocks noGrp="1"/>
          </p:cNvSpPr>
          <p:nvPr/>
        </p:nvSpPr>
        <p:spPr>
          <a:xfrm>
            <a:off x="7410450" y="298132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weak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F55E3A-D065-4E2C-972A-CE12C9B324AD}"/>
              </a:ext>
            </a:extLst>
          </p:cNvPr>
          <p:cNvSpPr>
            <a:spLocks noGrp="1"/>
          </p:cNvSpPr>
          <p:nvPr/>
        </p:nvSpPr>
        <p:spPr>
          <a:xfrm>
            <a:off x="9029700" y="2933700"/>
            <a:ext cx="914400" cy="209550"/>
          </a:xfrm>
          <a:prstGeom prst="rect">
            <a:avLst/>
          </a:prstGeom>
          <a:solidFill>
            <a:srgbClr val="E9D49D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10E7A7-DCE1-47D2-A9BB-C30F68374EED}"/>
              </a:ext>
            </a:extLst>
          </p:cNvPr>
          <p:cNvSpPr>
            <a:spLocks noGrp="1"/>
          </p:cNvSpPr>
          <p:nvPr/>
        </p:nvSpPr>
        <p:spPr>
          <a:xfrm>
            <a:off x="9105900" y="298132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useful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1C0CF24-A459-4152-91FA-3097BDCBB465}"/>
              </a:ext>
            </a:extLst>
          </p:cNvPr>
          <p:cNvSpPr>
            <a:spLocks noGrp="1"/>
          </p:cNvSpPr>
          <p:nvPr/>
        </p:nvSpPr>
        <p:spPr>
          <a:xfrm>
            <a:off x="819150" y="3371850"/>
            <a:ext cx="973455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77B5ED-09AC-4573-825F-563E9C2FD946}"/>
              </a:ext>
            </a:extLst>
          </p:cNvPr>
          <p:cNvSpPr>
            <a:spLocks noGrp="1"/>
          </p:cNvSpPr>
          <p:nvPr/>
        </p:nvSpPr>
        <p:spPr>
          <a:xfrm>
            <a:off x="914400" y="3486150"/>
            <a:ext cx="226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Alternating feast-famine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A3FAA45-3864-41C4-BF00-6D74729E0B9D}"/>
              </a:ext>
            </a:extLst>
          </p:cNvPr>
          <p:cNvSpPr>
            <a:spLocks noGrp="1"/>
          </p:cNvSpPr>
          <p:nvPr/>
        </p:nvSpPr>
        <p:spPr>
          <a:xfrm>
            <a:off x="3943350" y="3448050"/>
            <a:ext cx="1047750" cy="209550"/>
          </a:xfrm>
          <a:prstGeom prst="rect">
            <a:avLst/>
          </a:prstGeom>
          <a:solidFill>
            <a:srgbClr val="B96E3B"/>
          </a:solidFill>
          <a:ln w="9525">
            <a:solidFill>
              <a:srgbClr val="B96E3B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5CA309-CB85-4A43-AF23-F69C1DF984DB}"/>
              </a:ext>
            </a:extLst>
          </p:cNvPr>
          <p:cNvSpPr>
            <a:spLocks noGrp="1"/>
          </p:cNvSpPr>
          <p:nvPr/>
        </p:nvSpPr>
        <p:spPr>
          <a:xfrm>
            <a:off x="4019550" y="349567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strong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D016A4B-96FA-4828-8C50-18BB93480FDA}"/>
              </a:ext>
            </a:extLst>
          </p:cNvPr>
          <p:cNvSpPr>
            <a:spLocks noGrp="1"/>
          </p:cNvSpPr>
          <p:nvPr/>
        </p:nvSpPr>
        <p:spPr>
          <a:xfrm>
            <a:off x="5638800" y="3448050"/>
            <a:ext cx="914400" cy="209550"/>
          </a:xfrm>
          <a:prstGeom prst="rect">
            <a:avLst/>
          </a:prstGeom>
          <a:solidFill>
            <a:srgbClr val="E9D49D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FEF999-C2CC-49EA-9C73-7F72465918F9}"/>
              </a:ext>
            </a:extLst>
          </p:cNvPr>
          <p:cNvSpPr>
            <a:spLocks noGrp="1"/>
          </p:cNvSpPr>
          <p:nvPr/>
        </p:nvSpPr>
        <p:spPr>
          <a:xfrm>
            <a:off x="5715000" y="349567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useful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8F35B51-6145-40F1-9D25-D39D2D9F9B38}"/>
              </a:ext>
            </a:extLst>
          </p:cNvPr>
          <p:cNvSpPr>
            <a:spLocks noGrp="1"/>
          </p:cNvSpPr>
          <p:nvPr/>
        </p:nvSpPr>
        <p:spPr>
          <a:xfrm>
            <a:off x="7334250" y="3448050"/>
            <a:ext cx="781050" cy="209550"/>
          </a:xfrm>
          <a:prstGeom prst="rect">
            <a:avLst/>
          </a:prstGeom>
          <a:solidFill>
            <a:srgbClr val="EEE4D6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E433B9A-A9D0-4F98-A3B9-6602E823733F}"/>
              </a:ext>
            </a:extLst>
          </p:cNvPr>
          <p:cNvSpPr>
            <a:spLocks noGrp="1"/>
          </p:cNvSpPr>
          <p:nvPr/>
        </p:nvSpPr>
        <p:spPr>
          <a:xfrm>
            <a:off x="7410450" y="349567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weak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2C80B57-4F3A-4B40-AF98-74651DF90480}"/>
              </a:ext>
            </a:extLst>
          </p:cNvPr>
          <p:cNvSpPr>
            <a:spLocks noGrp="1"/>
          </p:cNvSpPr>
          <p:nvPr/>
        </p:nvSpPr>
        <p:spPr>
          <a:xfrm>
            <a:off x="9029700" y="3448050"/>
            <a:ext cx="914400" cy="209550"/>
          </a:xfrm>
          <a:prstGeom prst="rect">
            <a:avLst/>
          </a:prstGeom>
          <a:solidFill>
            <a:srgbClr val="E9D49D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06E9798-2FB6-47C3-A7B0-F413B228CAAA}"/>
              </a:ext>
            </a:extLst>
          </p:cNvPr>
          <p:cNvSpPr>
            <a:spLocks noGrp="1"/>
          </p:cNvSpPr>
          <p:nvPr/>
        </p:nvSpPr>
        <p:spPr>
          <a:xfrm>
            <a:off x="9105900" y="349567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useful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D92F9E-A441-4BAD-8A8B-55327CA476F4}"/>
              </a:ext>
            </a:extLst>
          </p:cNvPr>
          <p:cNvSpPr>
            <a:spLocks noGrp="1"/>
          </p:cNvSpPr>
          <p:nvPr/>
        </p:nvSpPr>
        <p:spPr>
          <a:xfrm>
            <a:off x="819150" y="3886200"/>
            <a:ext cx="973455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40F28D7-6D51-43D7-9DD0-323A5F021B52}"/>
              </a:ext>
            </a:extLst>
          </p:cNvPr>
          <p:cNvSpPr>
            <a:spLocks noGrp="1"/>
          </p:cNvSpPr>
          <p:nvPr/>
        </p:nvSpPr>
        <p:spPr>
          <a:xfrm>
            <a:off x="914400" y="4000500"/>
            <a:ext cx="226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Constant chamber gradient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1C2DD29-1099-44C6-B8AE-7081D697E159}"/>
              </a:ext>
            </a:extLst>
          </p:cNvPr>
          <p:cNvSpPr>
            <a:spLocks noGrp="1"/>
          </p:cNvSpPr>
          <p:nvPr/>
        </p:nvSpPr>
        <p:spPr>
          <a:xfrm>
            <a:off x="3943350" y="3962400"/>
            <a:ext cx="914400" cy="209550"/>
          </a:xfrm>
          <a:prstGeom prst="rect">
            <a:avLst/>
          </a:prstGeom>
          <a:solidFill>
            <a:srgbClr val="E9D49D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12A4DA8-D005-4524-8CDC-E39AEFDE1759}"/>
              </a:ext>
            </a:extLst>
          </p:cNvPr>
          <p:cNvSpPr>
            <a:spLocks noGrp="1"/>
          </p:cNvSpPr>
          <p:nvPr/>
        </p:nvSpPr>
        <p:spPr>
          <a:xfrm>
            <a:off x="4019550" y="401002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useful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0D40F27-84B7-4483-BA6B-CA0596CCB0EF}"/>
              </a:ext>
            </a:extLst>
          </p:cNvPr>
          <p:cNvSpPr>
            <a:spLocks noGrp="1"/>
          </p:cNvSpPr>
          <p:nvPr/>
        </p:nvSpPr>
        <p:spPr>
          <a:xfrm>
            <a:off x="5638800" y="3962400"/>
            <a:ext cx="781050" cy="209550"/>
          </a:xfrm>
          <a:prstGeom prst="rect">
            <a:avLst/>
          </a:prstGeom>
          <a:solidFill>
            <a:srgbClr val="EEE4D6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538921F-0DAD-463A-A74A-F0476A66F039}"/>
              </a:ext>
            </a:extLst>
          </p:cNvPr>
          <p:cNvSpPr>
            <a:spLocks noGrp="1"/>
          </p:cNvSpPr>
          <p:nvPr/>
        </p:nvSpPr>
        <p:spPr>
          <a:xfrm>
            <a:off x="5715000" y="401002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weak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CB65CDC-40A2-48FD-83FE-AA157C30AC64}"/>
              </a:ext>
            </a:extLst>
          </p:cNvPr>
          <p:cNvSpPr>
            <a:spLocks noGrp="1"/>
          </p:cNvSpPr>
          <p:nvPr/>
        </p:nvSpPr>
        <p:spPr>
          <a:xfrm>
            <a:off x="7334250" y="3962400"/>
            <a:ext cx="1047750" cy="209550"/>
          </a:xfrm>
          <a:prstGeom prst="rect">
            <a:avLst/>
          </a:prstGeom>
          <a:solidFill>
            <a:srgbClr val="B96E3B"/>
          </a:solidFill>
          <a:ln w="9525">
            <a:solidFill>
              <a:srgbClr val="B96E3B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F37CBCC-8FFF-4E40-987A-FEEEB88DB51B}"/>
              </a:ext>
            </a:extLst>
          </p:cNvPr>
          <p:cNvSpPr>
            <a:spLocks noGrp="1"/>
          </p:cNvSpPr>
          <p:nvPr/>
        </p:nvSpPr>
        <p:spPr>
          <a:xfrm>
            <a:off x="7410450" y="401002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strong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53E9B6F-AB67-4B38-9DEA-32FA926A5B5E}"/>
              </a:ext>
            </a:extLst>
          </p:cNvPr>
          <p:cNvSpPr>
            <a:spLocks noGrp="1"/>
          </p:cNvSpPr>
          <p:nvPr/>
        </p:nvSpPr>
        <p:spPr>
          <a:xfrm>
            <a:off x="9029700" y="3962400"/>
            <a:ext cx="781050" cy="209550"/>
          </a:xfrm>
          <a:prstGeom prst="rect">
            <a:avLst/>
          </a:prstGeom>
          <a:solidFill>
            <a:srgbClr val="EEE4D6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5E18FC-7B63-425D-B7F1-32D538859853}"/>
              </a:ext>
            </a:extLst>
          </p:cNvPr>
          <p:cNvSpPr>
            <a:spLocks noGrp="1"/>
          </p:cNvSpPr>
          <p:nvPr/>
        </p:nvSpPr>
        <p:spPr>
          <a:xfrm>
            <a:off x="9105900" y="401002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weak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271CCB0-C133-45BC-B76B-9A6CFE522E68}"/>
              </a:ext>
            </a:extLst>
          </p:cNvPr>
          <p:cNvSpPr>
            <a:spLocks noGrp="1"/>
          </p:cNvSpPr>
          <p:nvPr/>
        </p:nvSpPr>
        <p:spPr>
          <a:xfrm>
            <a:off x="819150" y="4400550"/>
            <a:ext cx="973455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BE59A0B-A4C8-4A74-80E7-6C12DE5CEC23}"/>
              </a:ext>
            </a:extLst>
          </p:cNvPr>
          <p:cNvSpPr>
            <a:spLocks noGrp="1"/>
          </p:cNvSpPr>
          <p:nvPr/>
        </p:nvSpPr>
        <p:spPr>
          <a:xfrm>
            <a:off x="914400" y="4514850"/>
            <a:ext cx="226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Stress exposure then recovery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D0CBE88-9EAD-458A-B2EB-07A217CAAD69}"/>
              </a:ext>
            </a:extLst>
          </p:cNvPr>
          <p:cNvSpPr>
            <a:spLocks noGrp="1"/>
          </p:cNvSpPr>
          <p:nvPr/>
        </p:nvSpPr>
        <p:spPr>
          <a:xfrm>
            <a:off x="3943350" y="4476750"/>
            <a:ext cx="914400" cy="209550"/>
          </a:xfrm>
          <a:prstGeom prst="rect">
            <a:avLst/>
          </a:prstGeom>
          <a:solidFill>
            <a:srgbClr val="E9D49D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9F2A0DC-5A72-43D0-96D6-1AB3913620AF}"/>
              </a:ext>
            </a:extLst>
          </p:cNvPr>
          <p:cNvSpPr>
            <a:spLocks noGrp="1"/>
          </p:cNvSpPr>
          <p:nvPr/>
        </p:nvSpPr>
        <p:spPr>
          <a:xfrm>
            <a:off x="4019550" y="452437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useful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6F18FCC-21C6-4A51-B26A-192188A799D8}"/>
              </a:ext>
            </a:extLst>
          </p:cNvPr>
          <p:cNvSpPr>
            <a:spLocks noGrp="1"/>
          </p:cNvSpPr>
          <p:nvPr/>
        </p:nvSpPr>
        <p:spPr>
          <a:xfrm>
            <a:off x="5638800" y="4476750"/>
            <a:ext cx="914400" cy="209550"/>
          </a:xfrm>
          <a:prstGeom prst="rect">
            <a:avLst/>
          </a:prstGeom>
          <a:solidFill>
            <a:srgbClr val="E9D49D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999EAEB-B3B6-4BFE-A937-B0EF80C47AE0}"/>
              </a:ext>
            </a:extLst>
          </p:cNvPr>
          <p:cNvSpPr>
            <a:spLocks noGrp="1"/>
          </p:cNvSpPr>
          <p:nvPr/>
        </p:nvSpPr>
        <p:spPr>
          <a:xfrm>
            <a:off x="5715000" y="452437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useful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37250AC-4C87-49BC-A56E-85ADAE30E9A6}"/>
              </a:ext>
            </a:extLst>
          </p:cNvPr>
          <p:cNvSpPr>
            <a:spLocks noGrp="1"/>
          </p:cNvSpPr>
          <p:nvPr/>
        </p:nvSpPr>
        <p:spPr>
          <a:xfrm>
            <a:off x="7334250" y="4476750"/>
            <a:ext cx="781050" cy="209550"/>
          </a:xfrm>
          <a:prstGeom prst="rect">
            <a:avLst/>
          </a:prstGeom>
          <a:solidFill>
            <a:srgbClr val="EEE4D6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FACAD54-738D-4011-A9DC-4DCAE1307CD8}"/>
              </a:ext>
            </a:extLst>
          </p:cNvPr>
          <p:cNvSpPr>
            <a:spLocks noGrp="1"/>
          </p:cNvSpPr>
          <p:nvPr/>
        </p:nvSpPr>
        <p:spPr>
          <a:xfrm>
            <a:off x="7410450" y="452437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weak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6E4F798-03CB-46B5-8B07-4A845B60F576}"/>
              </a:ext>
            </a:extLst>
          </p:cNvPr>
          <p:cNvSpPr>
            <a:spLocks noGrp="1"/>
          </p:cNvSpPr>
          <p:nvPr/>
        </p:nvSpPr>
        <p:spPr>
          <a:xfrm>
            <a:off x="9029700" y="4476750"/>
            <a:ext cx="1047750" cy="209550"/>
          </a:xfrm>
          <a:prstGeom prst="rect">
            <a:avLst/>
          </a:prstGeom>
          <a:solidFill>
            <a:srgbClr val="B96E3B"/>
          </a:solidFill>
          <a:ln w="9525">
            <a:solidFill>
              <a:srgbClr val="B96E3B"/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CB19B40-1BF9-49C4-8D41-DD15991938F1}"/>
              </a:ext>
            </a:extLst>
          </p:cNvPr>
          <p:cNvSpPr>
            <a:spLocks noGrp="1"/>
          </p:cNvSpPr>
          <p:nvPr/>
        </p:nvSpPr>
        <p:spPr>
          <a:xfrm>
            <a:off x="9105900" y="452437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strong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5621E3F-468D-40E0-9E72-15D4A33A2892}"/>
              </a:ext>
            </a:extLst>
          </p:cNvPr>
          <p:cNvSpPr>
            <a:spLocks noGrp="1"/>
          </p:cNvSpPr>
          <p:nvPr/>
        </p:nvSpPr>
        <p:spPr>
          <a:xfrm>
            <a:off x="819150" y="4914900"/>
            <a:ext cx="973455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D4F7B83-E094-4A31-ABD9-6EFE2181E4DC}"/>
              </a:ext>
            </a:extLst>
          </p:cNvPr>
          <p:cNvSpPr>
            <a:spLocks noGrp="1"/>
          </p:cNvSpPr>
          <p:nvPr/>
        </p:nvSpPr>
        <p:spPr>
          <a:xfrm>
            <a:off x="914400" y="5029200"/>
            <a:ext cx="226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Mother-machine tracking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74E6DFC-87BE-4CAA-AEA9-FAF68EC3EF30}"/>
              </a:ext>
            </a:extLst>
          </p:cNvPr>
          <p:cNvSpPr>
            <a:spLocks noGrp="1"/>
          </p:cNvSpPr>
          <p:nvPr/>
        </p:nvSpPr>
        <p:spPr>
          <a:xfrm>
            <a:off x="3943350" y="4991100"/>
            <a:ext cx="914400" cy="209550"/>
          </a:xfrm>
          <a:prstGeom prst="rect">
            <a:avLst/>
          </a:prstGeom>
          <a:solidFill>
            <a:srgbClr val="E9D49D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CEF0197-72EB-4996-98DF-043267EFD1B3}"/>
              </a:ext>
            </a:extLst>
          </p:cNvPr>
          <p:cNvSpPr>
            <a:spLocks noGrp="1"/>
          </p:cNvSpPr>
          <p:nvPr/>
        </p:nvSpPr>
        <p:spPr>
          <a:xfrm>
            <a:off x="4019550" y="503872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useful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9787DE8-D19D-4721-92F8-91E0DB4170BD}"/>
              </a:ext>
            </a:extLst>
          </p:cNvPr>
          <p:cNvSpPr>
            <a:spLocks noGrp="1"/>
          </p:cNvSpPr>
          <p:nvPr/>
        </p:nvSpPr>
        <p:spPr>
          <a:xfrm>
            <a:off x="5638800" y="4991100"/>
            <a:ext cx="1047750" cy="209550"/>
          </a:xfrm>
          <a:prstGeom prst="rect">
            <a:avLst/>
          </a:prstGeom>
          <a:solidFill>
            <a:srgbClr val="B96E3B"/>
          </a:solidFill>
          <a:ln w="9525">
            <a:solidFill>
              <a:srgbClr val="B96E3B"/>
            </a:solidFill>
            <a:prstDash val="solid"/>
          </a:ln>
        </p:spPr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3CFC9DC-0224-4C90-B3E2-09DFCFF50FF7}"/>
              </a:ext>
            </a:extLst>
          </p:cNvPr>
          <p:cNvSpPr>
            <a:spLocks noGrp="1"/>
          </p:cNvSpPr>
          <p:nvPr/>
        </p:nvSpPr>
        <p:spPr>
          <a:xfrm>
            <a:off x="5715000" y="503872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strong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F5F0C44-132B-4151-8B85-E9E5FA287F38}"/>
              </a:ext>
            </a:extLst>
          </p:cNvPr>
          <p:cNvSpPr>
            <a:spLocks noGrp="1"/>
          </p:cNvSpPr>
          <p:nvPr/>
        </p:nvSpPr>
        <p:spPr>
          <a:xfrm>
            <a:off x="7334250" y="4991100"/>
            <a:ext cx="781050" cy="209550"/>
          </a:xfrm>
          <a:prstGeom prst="rect">
            <a:avLst/>
          </a:prstGeom>
          <a:solidFill>
            <a:srgbClr val="EEE4D6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E7A0094-8C9E-4D07-9A01-42EC017667F9}"/>
              </a:ext>
            </a:extLst>
          </p:cNvPr>
          <p:cNvSpPr>
            <a:spLocks noGrp="1"/>
          </p:cNvSpPr>
          <p:nvPr/>
        </p:nvSpPr>
        <p:spPr>
          <a:xfrm>
            <a:off x="7410450" y="503872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weak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710C272-A7D8-41B1-A8DB-1E09264BB625}"/>
              </a:ext>
            </a:extLst>
          </p:cNvPr>
          <p:cNvSpPr>
            <a:spLocks noGrp="1"/>
          </p:cNvSpPr>
          <p:nvPr/>
        </p:nvSpPr>
        <p:spPr>
          <a:xfrm>
            <a:off x="9029700" y="4991100"/>
            <a:ext cx="914400" cy="209550"/>
          </a:xfrm>
          <a:prstGeom prst="rect">
            <a:avLst/>
          </a:prstGeom>
          <a:solidFill>
            <a:srgbClr val="E9D49D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FE9D042-4350-458C-9688-5B7877E50C6C}"/>
              </a:ext>
            </a:extLst>
          </p:cNvPr>
          <p:cNvSpPr>
            <a:spLocks noGrp="1"/>
          </p:cNvSpPr>
          <p:nvPr/>
        </p:nvSpPr>
        <p:spPr>
          <a:xfrm>
            <a:off x="9105900" y="5038725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useful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12ECC4C-A916-4906-A730-FB222122300F}"/>
              </a:ext>
            </a:extLst>
          </p:cNvPr>
          <p:cNvSpPr>
            <a:spLocks noGrp="1"/>
          </p:cNvSpPr>
          <p:nvPr/>
        </p:nvSpPr>
        <p:spPr>
          <a:xfrm>
            <a:off x="1771650" y="5772150"/>
            <a:ext cx="1695450" cy="266700"/>
          </a:xfrm>
          <a:prstGeom prst="rect">
            <a:avLst/>
          </a:prstGeom>
          <a:solidFill>
            <a:srgbClr val="F6F0E6"/>
          </a:solidFill>
          <a:ln w="9525">
            <a:solidFill>
              <a:srgbClr val="58735F"/>
            </a:solidFill>
            <a:prstDash val="solid"/>
          </a:ln>
        </p:spPr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1979428-A25F-4010-8B88-4D70BB449758}"/>
              </a:ext>
            </a:extLst>
          </p:cNvPr>
          <p:cNvSpPr>
            <a:spLocks noGrp="1"/>
          </p:cNvSpPr>
          <p:nvPr/>
        </p:nvSpPr>
        <p:spPr>
          <a:xfrm>
            <a:off x="1885950" y="5819775"/>
            <a:ext cx="1466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675" b="1">
                <a:solidFill>
                  <a:srgbClr val="58735F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58735F"/>
                </a:solidFill>
                <a:latin typeface="Avenir Next"/>
                <a:ea typeface="Avenir Next"/>
                <a:cs typeface="Avenir Next"/>
              </a:rPr>
              <a:t>train on one schedule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4742E57-969F-41E4-87E0-F04E9BE9222F}"/>
              </a:ext>
            </a:extLst>
          </p:cNvPr>
          <p:cNvSpPr>
            <a:spLocks noGrp="1"/>
          </p:cNvSpPr>
          <p:nvPr/>
        </p:nvSpPr>
        <p:spPr>
          <a:xfrm>
            <a:off x="3676650" y="5772150"/>
            <a:ext cx="1447800" cy="266700"/>
          </a:xfrm>
          <a:prstGeom prst="rect">
            <a:avLst/>
          </a:prstGeom>
          <a:solidFill>
            <a:srgbClr val="F6F0E6"/>
          </a:solidFill>
          <a:ln w="9525">
            <a:solidFill>
              <a:srgbClr val="B96E3B"/>
            </a:solidFill>
            <a:prstDash val="solid"/>
          </a:ln>
        </p:spPr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4D2AEA0-5593-4AF5-BE09-46CC98296360}"/>
              </a:ext>
            </a:extLst>
          </p:cNvPr>
          <p:cNvSpPr>
            <a:spLocks noGrp="1"/>
          </p:cNvSpPr>
          <p:nvPr/>
        </p:nvSpPr>
        <p:spPr>
          <a:xfrm>
            <a:off x="3790950" y="5819775"/>
            <a:ext cx="1219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675" b="1">
                <a:solidFill>
                  <a:srgbClr val="B96E3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B96E3B"/>
                </a:solidFill>
                <a:latin typeface="Avenir Next"/>
                <a:ea typeface="Avenir Next"/>
                <a:cs typeface="Avenir Next"/>
              </a:rPr>
              <a:t>predict another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1E8B294-1BA2-439D-B468-95D809FDA935}"/>
              </a:ext>
            </a:extLst>
          </p:cNvPr>
          <p:cNvSpPr>
            <a:spLocks noGrp="1"/>
          </p:cNvSpPr>
          <p:nvPr/>
        </p:nvSpPr>
        <p:spPr>
          <a:xfrm>
            <a:off x="5334000" y="5772150"/>
            <a:ext cx="1619250" cy="266700"/>
          </a:xfrm>
          <a:prstGeom prst="rect">
            <a:avLst/>
          </a:prstGeom>
          <a:solidFill>
            <a:srgbClr val="F6F0E6"/>
          </a:solidFill>
          <a:ln w="9525">
            <a:solidFill>
              <a:srgbClr val="2F6F8F"/>
            </a:solidFill>
            <a:prstDash val="solid"/>
          </a:ln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01E9011-E890-4C6E-A1A0-65E7F534731C}"/>
              </a:ext>
            </a:extLst>
          </p:cNvPr>
          <p:cNvSpPr>
            <a:spLocks noGrp="1"/>
          </p:cNvSpPr>
          <p:nvPr/>
        </p:nvSpPr>
        <p:spPr>
          <a:xfrm>
            <a:off x="5448300" y="5819775"/>
            <a:ext cx="1390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675" b="1">
                <a:solidFill>
                  <a:srgbClr val="2F6F8F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2F6F8F"/>
                </a:solidFill>
                <a:latin typeface="Avenir Next"/>
                <a:ea typeface="Avenir Next"/>
                <a:cs typeface="Avenir Next"/>
              </a:rPr>
              <a:t>inspect distributions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E734AD5-A2AB-4231-ABF9-70EA5EB5CA33}"/>
              </a:ext>
            </a:extLst>
          </p:cNvPr>
          <p:cNvSpPr>
            <a:spLocks noGrp="1"/>
          </p:cNvSpPr>
          <p:nvPr/>
        </p:nvSpPr>
        <p:spPr>
          <a:xfrm>
            <a:off x="7162800" y="5772150"/>
            <a:ext cx="1562100" cy="266700"/>
          </a:xfrm>
          <a:prstGeom prst="rect">
            <a:avLst/>
          </a:prstGeom>
          <a:solidFill>
            <a:srgbClr val="F6F0E6"/>
          </a:solidFill>
          <a:ln w="9525">
            <a:solidFill>
              <a:srgbClr val="C49A45"/>
            </a:solidFill>
            <a:prstDash val="solid"/>
          </a:ln>
        </p:spPr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786C19A-1C56-48AF-A8C6-354CD9A27FD8}"/>
              </a:ext>
            </a:extLst>
          </p:cNvPr>
          <p:cNvSpPr>
            <a:spLocks noGrp="1"/>
          </p:cNvSpPr>
          <p:nvPr/>
        </p:nvSpPr>
        <p:spPr>
          <a:xfrm>
            <a:off x="7277100" y="5819775"/>
            <a:ext cx="1333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675" b="1">
                <a:solidFill>
                  <a:srgbClr val="C49A45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C49A45"/>
                </a:solidFill>
                <a:latin typeface="Avenir Next"/>
                <a:ea typeface="Avenir Next"/>
                <a:cs typeface="Avenir Next"/>
              </a:rPr>
              <a:t>reject curve fitting</a:t>
            </a:r>
          </a:p>
        </p:txBody>
      </p:sp>
      <p:sp>
        <p:nvSpPr>
          <p:cNvPr id="78" name="footer-rule">
            <a:extLst>
              <a:ext uri="{FF2B5EF4-FFF2-40B4-BE49-F238E27FC236}">
                <a16:creationId xmlns:a16="http://schemas.microsoft.com/office/drawing/2014/main" id="{45D373D6-7EA8-48A4-937C-186A17A706EA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footer-source">
            <a:extLst>
              <a:ext uri="{FF2B5EF4-FFF2-40B4-BE49-F238E27FC236}">
                <a16:creationId xmlns:a16="http://schemas.microsoft.com/office/drawing/2014/main" id="{0BC79F54-1029-423E-AA0F-B8002AEB20CB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Source basis: useful experiments and memory-effect rationale from microfluidics brainstorm</a:t>
            </a:r>
          </a:p>
        </p:txBody>
      </p:sp>
      <p:sp>
        <p:nvSpPr>
          <p:cNvPr id="80" name="footer-page">
            <a:extLst>
              <a:ext uri="{FF2B5EF4-FFF2-40B4-BE49-F238E27FC236}">
                <a16:creationId xmlns:a16="http://schemas.microsoft.com/office/drawing/2014/main" id="{7566A090-F9E0-4514-9C51-847597400F2D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5716C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5716C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36442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-background">
            <a:extLst>
              <a:ext uri="{FF2B5EF4-FFF2-40B4-BE49-F238E27FC236}">
                <a16:creationId xmlns:a16="http://schemas.microsoft.com/office/drawing/2014/main" id="{0A5114E4-A5A1-47BD-8476-1CB7E48CE3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0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702560F3-5BD9-441B-8412-DFAE84880039}"/>
              </a:ext>
            </a:extLst>
          </p:cNvPr>
          <p:cNvSpPr>
            <a:spLocks noGrp="1"/>
          </p:cNvSpPr>
          <p:nvPr/>
        </p:nvSpPr>
        <p:spPr>
          <a:xfrm>
            <a:off x="552450" y="485775"/>
            <a:ext cx="114300" cy="114300"/>
          </a:xfrm>
          <a:prstGeom prst="rect">
            <a:avLst/>
          </a:prstGeom>
          <a:solidFill>
            <a:srgbClr val="C49A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8770DDF1-CE4B-48E2-B70E-F49C615B61C6}"/>
              </a:ext>
            </a:extLst>
          </p:cNvPr>
          <p:cNvSpPr>
            <a:spLocks noGrp="1"/>
          </p:cNvSpPr>
          <p:nvPr/>
        </p:nvSpPr>
        <p:spPr>
          <a:xfrm>
            <a:off x="781050" y="4381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V A L I D A T I O N   T A R G E 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2CEEED-080A-4F7A-A2AB-15CDDDE7C0C1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953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The validation target is prediction under a new nutrient schedule.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F66C32-5056-4011-A51C-D34F5BA8736F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3105150" cy="2857500"/>
          </a:xfrm>
          <a:prstGeom prst="rect">
            <a:avLst/>
          </a:prstGeom>
          <a:solidFill>
            <a:srgbClr val="EEE4D6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9F091C-2CEE-46EE-8CD4-51B814332CA1}"/>
              </a:ext>
            </a:extLst>
          </p:cNvPr>
          <p:cNvSpPr>
            <a:spLocks noGrp="1"/>
          </p:cNvSpPr>
          <p:nvPr/>
        </p:nvSpPr>
        <p:spPr>
          <a:xfrm>
            <a:off x="1047750" y="23431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Training schedule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D6034B-9D63-4107-8F27-AD2FBFF514A7}"/>
              </a:ext>
            </a:extLst>
          </p:cNvPr>
          <p:cNvSpPr>
            <a:spLocks noGrp="1"/>
          </p:cNvSpPr>
          <p:nvPr/>
        </p:nvSpPr>
        <p:spPr>
          <a:xfrm>
            <a:off x="1104900" y="2952750"/>
            <a:ext cx="457200" cy="590550"/>
          </a:xfrm>
          <a:prstGeom prst="rect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9140C2-A48C-4AF6-884D-1A466B1282CC}"/>
              </a:ext>
            </a:extLst>
          </p:cNvPr>
          <p:cNvSpPr>
            <a:spLocks noGrp="1"/>
          </p:cNvSpPr>
          <p:nvPr/>
        </p:nvSpPr>
        <p:spPr>
          <a:xfrm>
            <a:off x="1924050" y="3333750"/>
            <a:ext cx="457200" cy="381000"/>
          </a:xfrm>
          <a:prstGeom prst="rect">
            <a:avLst/>
          </a:prstGeom>
          <a:solidFill>
            <a:srgbClr val="B96E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EF8CB8-5950-4773-8E34-E2F96302A9E8}"/>
              </a:ext>
            </a:extLst>
          </p:cNvPr>
          <p:cNvSpPr>
            <a:spLocks noGrp="1"/>
          </p:cNvSpPr>
          <p:nvPr/>
        </p:nvSpPr>
        <p:spPr>
          <a:xfrm>
            <a:off x="2743200" y="2781300"/>
            <a:ext cx="457200" cy="762000"/>
          </a:xfrm>
          <a:prstGeom prst="rect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DB5E48-F5EF-40AB-A394-E5D7B05D787F}"/>
              </a:ext>
            </a:extLst>
          </p:cNvPr>
          <p:cNvSpPr>
            <a:spLocks noGrp="1"/>
          </p:cNvSpPr>
          <p:nvPr/>
        </p:nvSpPr>
        <p:spPr>
          <a:xfrm>
            <a:off x="1047750" y="3810000"/>
            <a:ext cx="2305050" cy="9525"/>
          </a:xfrm>
          <a:prstGeom prst="rect">
            <a:avLst/>
          </a:prstGeom>
          <a:solidFill>
            <a:srgbClr val="6571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B16F6D-81F5-4B7E-87D1-204C6BC3335B}"/>
              </a:ext>
            </a:extLst>
          </p:cNvPr>
          <p:cNvSpPr>
            <a:spLocks noGrp="1"/>
          </p:cNvSpPr>
          <p:nvPr/>
        </p:nvSpPr>
        <p:spPr>
          <a:xfrm>
            <a:off x="1047750" y="4133850"/>
            <a:ext cx="2324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fit parameters from observed size, division, fluorescence, lineage, and population traces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545C67-EA95-4520-A6E3-C40C461AE3FE}"/>
              </a:ext>
            </a:extLst>
          </p:cNvPr>
          <p:cNvSpPr>
            <a:spLocks noGrp="1"/>
          </p:cNvSpPr>
          <p:nvPr/>
        </p:nvSpPr>
        <p:spPr>
          <a:xfrm>
            <a:off x="4552950" y="2095500"/>
            <a:ext cx="3105150" cy="28575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C49A45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96C60E-E21F-4B31-8B53-3EFE25CEE372}"/>
              </a:ext>
            </a:extLst>
          </p:cNvPr>
          <p:cNvSpPr>
            <a:spLocks noGrp="1"/>
          </p:cNvSpPr>
          <p:nvPr/>
        </p:nvSpPr>
        <p:spPr>
          <a:xfrm>
            <a:off x="4819650" y="23431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Held-out schedule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C17E0F-9399-4541-B408-4135D066FAC7}"/>
              </a:ext>
            </a:extLst>
          </p:cNvPr>
          <p:cNvSpPr>
            <a:spLocks noGrp="1"/>
          </p:cNvSpPr>
          <p:nvPr/>
        </p:nvSpPr>
        <p:spPr>
          <a:xfrm>
            <a:off x="4876800" y="3276600"/>
            <a:ext cx="457200" cy="438150"/>
          </a:xfrm>
          <a:prstGeom prst="rect">
            <a:avLst/>
          </a:prstGeom>
          <a:solidFill>
            <a:srgbClr val="B96E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C22E0F-7750-4EF5-A0FC-68532D7D6DEB}"/>
              </a:ext>
            </a:extLst>
          </p:cNvPr>
          <p:cNvSpPr>
            <a:spLocks noGrp="1"/>
          </p:cNvSpPr>
          <p:nvPr/>
        </p:nvSpPr>
        <p:spPr>
          <a:xfrm>
            <a:off x="5695950" y="2705100"/>
            <a:ext cx="457200" cy="838200"/>
          </a:xfrm>
          <a:prstGeom prst="rect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7B3CFE-2286-4EF9-8743-E2AC78EC6FF7}"/>
              </a:ext>
            </a:extLst>
          </p:cNvPr>
          <p:cNvSpPr>
            <a:spLocks noGrp="1"/>
          </p:cNvSpPr>
          <p:nvPr/>
        </p:nvSpPr>
        <p:spPr>
          <a:xfrm>
            <a:off x="6515100" y="3143250"/>
            <a:ext cx="457200" cy="514350"/>
          </a:xfrm>
          <a:prstGeom prst="rect">
            <a:avLst/>
          </a:prstGeom>
          <a:solidFill>
            <a:srgbClr val="2F6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C36D7D-C083-4DE4-9B82-4B6F47DE3EF2}"/>
              </a:ext>
            </a:extLst>
          </p:cNvPr>
          <p:cNvSpPr>
            <a:spLocks noGrp="1"/>
          </p:cNvSpPr>
          <p:nvPr/>
        </p:nvSpPr>
        <p:spPr>
          <a:xfrm>
            <a:off x="4819650" y="3810000"/>
            <a:ext cx="2305050" cy="9525"/>
          </a:xfrm>
          <a:prstGeom prst="rect">
            <a:avLst/>
          </a:prstGeom>
          <a:solidFill>
            <a:srgbClr val="6571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AD28CB-1C75-4D1C-B54E-D30F2F0F9DFB}"/>
              </a:ext>
            </a:extLst>
          </p:cNvPr>
          <p:cNvSpPr>
            <a:spLocks noGrp="1"/>
          </p:cNvSpPr>
          <p:nvPr/>
        </p:nvSpPr>
        <p:spPr>
          <a:xfrm>
            <a:off x="4819650" y="4133850"/>
            <a:ext cx="2324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predict growth, division timing, recovery distributions, and reserve-sensitive lag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B38D67-7AC3-450E-9370-9AB35A32BF72}"/>
              </a:ext>
            </a:extLst>
          </p:cNvPr>
          <p:cNvSpPr>
            <a:spLocks noGrp="1"/>
          </p:cNvSpPr>
          <p:nvPr/>
        </p:nvSpPr>
        <p:spPr>
          <a:xfrm>
            <a:off x="8267700" y="2095500"/>
            <a:ext cx="2667000" cy="2857500"/>
          </a:xfrm>
          <a:prstGeom prst="rect">
            <a:avLst/>
          </a:prstGeom>
          <a:solidFill>
            <a:srgbClr val="1420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AD5F85-EA6A-4618-8B5E-F9A0A82A2170}"/>
              </a:ext>
            </a:extLst>
          </p:cNvPr>
          <p:cNvSpPr>
            <a:spLocks noGrp="1"/>
          </p:cNvSpPr>
          <p:nvPr/>
        </p:nvSpPr>
        <p:spPr>
          <a:xfrm>
            <a:off x="8534400" y="23622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Pass / fail gate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547F6A-AB63-4D3C-BB7A-5851B6F9D36E}"/>
              </a:ext>
            </a:extLst>
          </p:cNvPr>
          <p:cNvSpPr>
            <a:spLocks noGrp="1"/>
          </p:cNvSpPr>
          <p:nvPr/>
        </p:nvSpPr>
        <p:spPr>
          <a:xfrm>
            <a:off x="8572500" y="2905125"/>
            <a:ext cx="76200" cy="76200"/>
          </a:xfrm>
          <a:prstGeom prst="rect">
            <a:avLst/>
          </a:prstGeom>
          <a:solidFill>
            <a:srgbClr val="C49A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211C48-D530-425C-AF8C-FD790FEB1AC3}"/>
              </a:ext>
            </a:extLst>
          </p:cNvPr>
          <p:cNvSpPr>
            <a:spLocks noGrp="1"/>
          </p:cNvSpPr>
          <p:nvPr/>
        </p:nvSpPr>
        <p:spPr>
          <a:xfrm>
            <a:off x="8801100" y="2876550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E8DDC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E8DDCD"/>
                </a:solidFill>
                <a:latin typeface="Avenir Next"/>
                <a:ea typeface="Avenir Next"/>
                <a:cs typeface="Avenir Next"/>
              </a:rPr>
              <a:t>single-cell trajectories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12640F-4AC3-433F-BE66-B35A587ADA52}"/>
              </a:ext>
            </a:extLst>
          </p:cNvPr>
          <p:cNvSpPr>
            <a:spLocks noGrp="1"/>
          </p:cNvSpPr>
          <p:nvPr/>
        </p:nvSpPr>
        <p:spPr>
          <a:xfrm>
            <a:off x="8572500" y="3267075"/>
            <a:ext cx="76200" cy="76200"/>
          </a:xfrm>
          <a:prstGeom prst="rect">
            <a:avLst/>
          </a:prstGeom>
          <a:solidFill>
            <a:srgbClr val="B96E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38EB51-9262-4A82-945A-5B1CC0B041E0}"/>
              </a:ext>
            </a:extLst>
          </p:cNvPr>
          <p:cNvSpPr>
            <a:spLocks noGrp="1"/>
          </p:cNvSpPr>
          <p:nvPr/>
        </p:nvSpPr>
        <p:spPr>
          <a:xfrm>
            <a:off x="8801100" y="3238500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E8DDC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E8DDCD"/>
                </a:solidFill>
                <a:latin typeface="Avenir Next"/>
                <a:ea typeface="Avenir Next"/>
                <a:cs typeface="Avenir Next"/>
              </a:rPr>
              <a:t>division-time distribution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A56F70-FB0E-4B05-901E-EDE4004FF9EA}"/>
              </a:ext>
            </a:extLst>
          </p:cNvPr>
          <p:cNvSpPr>
            <a:spLocks noGrp="1"/>
          </p:cNvSpPr>
          <p:nvPr/>
        </p:nvSpPr>
        <p:spPr>
          <a:xfrm>
            <a:off x="8572500" y="3629025"/>
            <a:ext cx="76200" cy="76200"/>
          </a:xfrm>
          <a:prstGeom prst="rect">
            <a:avLst/>
          </a:prstGeom>
          <a:solidFill>
            <a:srgbClr val="C49A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295E4A-80B2-43ED-A41E-4D4C47FF9732}"/>
              </a:ext>
            </a:extLst>
          </p:cNvPr>
          <p:cNvSpPr>
            <a:spLocks noGrp="1"/>
          </p:cNvSpPr>
          <p:nvPr/>
        </p:nvSpPr>
        <p:spPr>
          <a:xfrm>
            <a:off x="8801100" y="3600450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E8DDC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E8DDCD"/>
                </a:solidFill>
                <a:latin typeface="Avenir Next"/>
                <a:ea typeface="Avenir Next"/>
                <a:cs typeface="Avenir Next"/>
              </a:rPr>
              <a:t>fluorescence dynamics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E048BB-E3FC-471C-AF27-7282A5322855}"/>
              </a:ext>
            </a:extLst>
          </p:cNvPr>
          <p:cNvSpPr>
            <a:spLocks noGrp="1"/>
          </p:cNvSpPr>
          <p:nvPr/>
        </p:nvSpPr>
        <p:spPr>
          <a:xfrm>
            <a:off x="8572500" y="3990975"/>
            <a:ext cx="76200" cy="76200"/>
          </a:xfrm>
          <a:prstGeom prst="rect">
            <a:avLst/>
          </a:prstGeom>
          <a:solidFill>
            <a:srgbClr val="B96E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D6788C-A637-48CA-B983-E0143C9C09A4}"/>
              </a:ext>
            </a:extLst>
          </p:cNvPr>
          <p:cNvSpPr>
            <a:spLocks noGrp="1"/>
          </p:cNvSpPr>
          <p:nvPr/>
        </p:nvSpPr>
        <p:spPr>
          <a:xfrm>
            <a:off x="8801100" y="3962400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E8DDC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E8DDCD"/>
                </a:solidFill>
                <a:latin typeface="Avenir Next"/>
                <a:ea typeface="Avenir Next"/>
                <a:cs typeface="Avenir Next"/>
              </a:rPr>
              <a:t>lineage correlations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6F32A6-9355-4C12-B4BE-846322C86F7F}"/>
              </a:ext>
            </a:extLst>
          </p:cNvPr>
          <p:cNvSpPr>
            <a:spLocks noGrp="1"/>
          </p:cNvSpPr>
          <p:nvPr/>
        </p:nvSpPr>
        <p:spPr>
          <a:xfrm>
            <a:off x="8572500" y="4352925"/>
            <a:ext cx="76200" cy="76200"/>
          </a:xfrm>
          <a:prstGeom prst="rect">
            <a:avLst/>
          </a:prstGeom>
          <a:solidFill>
            <a:srgbClr val="C49A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E10FF36-3475-4378-BB1A-66368DE10E75}"/>
              </a:ext>
            </a:extLst>
          </p:cNvPr>
          <p:cNvSpPr>
            <a:spLocks noGrp="1"/>
          </p:cNvSpPr>
          <p:nvPr/>
        </p:nvSpPr>
        <p:spPr>
          <a:xfrm>
            <a:off x="8801100" y="4324350"/>
            <a:ext cx="169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E8DDC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E8DDCD"/>
                </a:solidFill>
                <a:latin typeface="Avenir Next"/>
                <a:ea typeface="Avenir Next"/>
                <a:cs typeface="Avenir Next"/>
              </a:rPr>
              <a:t>population size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6C4E132-503F-4BEA-B8A9-F131DD065657}"/>
              </a:ext>
            </a:extLst>
          </p:cNvPr>
          <p:cNvSpPr>
            <a:spLocks noGrp="1"/>
          </p:cNvSpPr>
          <p:nvPr/>
        </p:nvSpPr>
        <p:spPr>
          <a:xfrm>
            <a:off x="2628900" y="5429250"/>
            <a:ext cx="6667500" cy="514350"/>
          </a:xfrm>
          <a:prstGeom prst="rect">
            <a:avLst/>
          </a:prstGeom>
          <a:solidFill>
            <a:srgbClr val="82462B"/>
          </a:solidFill>
          <a:ln w="9525">
            <a:solidFill>
              <a:srgbClr val="82462B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4A2267-B181-4308-8FF3-E6F09E2E82F0}"/>
              </a:ext>
            </a:extLst>
          </p:cNvPr>
          <p:cNvSpPr>
            <a:spLocks noGrp="1"/>
          </p:cNvSpPr>
          <p:nvPr/>
        </p:nvSpPr>
        <p:spPr>
          <a:xfrm>
            <a:off x="2800350" y="5581650"/>
            <a:ext cx="6324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model that only fits the training curve has not captured physiology. The held-out perturbation is the real test.</a:t>
            </a:r>
          </a:p>
        </p:txBody>
      </p:sp>
      <p:sp>
        <p:nvSpPr>
          <p:cNvPr id="33" name="footer-rule">
            <a:extLst>
              <a:ext uri="{FF2B5EF4-FFF2-40B4-BE49-F238E27FC236}">
                <a16:creationId xmlns:a16="http://schemas.microsoft.com/office/drawing/2014/main" id="{AFB44917-49AF-4D25-A5C8-E6729097588B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footer-source">
            <a:extLst>
              <a:ext uri="{FF2B5EF4-FFF2-40B4-BE49-F238E27FC236}">
                <a16:creationId xmlns:a16="http://schemas.microsoft.com/office/drawing/2014/main" id="{BE196A6B-0905-47DC-A850-70F3B76E656A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Source basis: model-data fit target and held-out nutrient perturbation validation</a:t>
            </a:r>
          </a:p>
        </p:txBody>
      </p:sp>
      <p:sp>
        <p:nvSpPr>
          <p:cNvPr id="35" name="footer-page">
            <a:extLst>
              <a:ext uri="{FF2B5EF4-FFF2-40B4-BE49-F238E27FC236}">
                <a16:creationId xmlns:a16="http://schemas.microsoft.com/office/drawing/2014/main" id="{A45D5EBE-F7BB-4D10-9D9A-D4EDB755E03C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5716C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5716C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46435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-background">
            <a:extLst>
              <a:ext uri="{FF2B5EF4-FFF2-40B4-BE49-F238E27FC236}">
                <a16:creationId xmlns:a16="http://schemas.microsoft.com/office/drawing/2014/main" id="{F8B8A907-C308-4DF4-8203-90647E0E58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0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26C5C429-7ABE-42CC-B918-4516B3BB8DB5}"/>
              </a:ext>
            </a:extLst>
          </p:cNvPr>
          <p:cNvSpPr>
            <a:spLocks noGrp="1"/>
          </p:cNvSpPr>
          <p:nvPr/>
        </p:nvSpPr>
        <p:spPr>
          <a:xfrm>
            <a:off x="552450" y="485775"/>
            <a:ext cx="114300" cy="114300"/>
          </a:xfrm>
          <a:prstGeom prst="rect">
            <a:avLst/>
          </a:prstGeom>
          <a:solidFill>
            <a:srgbClr val="5873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118E82F4-0015-48A6-ADEC-862C9E0CD138}"/>
              </a:ext>
            </a:extLst>
          </p:cNvPr>
          <p:cNvSpPr>
            <a:spLocks noGrp="1"/>
          </p:cNvSpPr>
          <p:nvPr/>
        </p:nvSpPr>
        <p:spPr>
          <a:xfrm>
            <a:off x="781050" y="43815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B U I L D   P L A 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A726A6-A872-4165-B9CD-EC688A5890E2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9429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026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2026"/>
                </a:solidFill>
                <a:latin typeface="Georgia"/>
                <a:ea typeface="Georgia"/>
                <a:cs typeface="Georgia"/>
              </a:rPr>
              <a:t>The first build should prove aggregate equivalence before spatial ambition.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8175F0-551C-4C5C-BB62-2A827DEF44E3}"/>
              </a:ext>
            </a:extLst>
          </p:cNvPr>
          <p:cNvSpPr>
            <a:spLocks noGrp="1"/>
          </p:cNvSpPr>
          <p:nvPr/>
        </p:nvSpPr>
        <p:spPr>
          <a:xfrm>
            <a:off x="819150" y="2343150"/>
            <a:ext cx="2057400" cy="2400300"/>
          </a:xfrm>
          <a:prstGeom prst="rect">
            <a:avLst/>
          </a:prstGeom>
          <a:solidFill>
            <a:srgbClr val="142026"/>
          </a:solidFill>
          <a:ln w="9525">
            <a:solidFill>
              <a:srgbClr val="14202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A8B806-62B1-4609-976B-FC154ED81AC3}"/>
              </a:ext>
            </a:extLst>
          </p:cNvPr>
          <p:cNvSpPr>
            <a:spLocks noGrp="1"/>
          </p:cNvSpPr>
          <p:nvPr/>
        </p:nvSpPr>
        <p:spPr>
          <a:xfrm>
            <a:off x="1028700" y="25717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E84ACB-6A61-47D9-9400-503DB295EAFA}"/>
              </a:ext>
            </a:extLst>
          </p:cNvPr>
          <p:cNvSpPr>
            <a:spLocks noGrp="1"/>
          </p:cNvSpPr>
          <p:nvPr/>
        </p:nvSpPr>
        <p:spPr>
          <a:xfrm>
            <a:off x="1524000" y="260985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Prototype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149B40-13CD-4AF9-82AF-E6431D412631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619250" cy="9525"/>
          </a:xfrm>
          <a:prstGeom prst="rect">
            <a:avLst/>
          </a:prstGeom>
          <a:solidFill>
            <a:srgbClr val="6C87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CDB80B-7DCE-404C-9838-CD17BF41B34A}"/>
              </a:ext>
            </a:extLst>
          </p:cNvPr>
          <p:cNvSpPr>
            <a:spLocks noGrp="1"/>
          </p:cNvSpPr>
          <p:nvPr/>
        </p:nvSpPr>
        <p:spPr>
          <a:xfrm>
            <a:off x="1028700" y="3257550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563" b="1">
                <a:solidFill>
                  <a:srgbClr val="BED4C5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BED4C5"/>
                </a:solidFill>
                <a:latin typeface="Avenir Next"/>
                <a:ea typeface="Avenir Next"/>
                <a:cs typeface="Avenir Next"/>
              </a:rPr>
              <a:t>B U I L 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E81CB4-145C-4069-8406-A515F6A6DC87}"/>
              </a:ext>
            </a:extLst>
          </p:cNvPr>
          <p:cNvSpPr>
            <a:spLocks noGrp="1"/>
          </p:cNvSpPr>
          <p:nvPr/>
        </p:nvSpPr>
        <p:spPr>
          <a:xfrm>
            <a:off x="1028700" y="3448050"/>
            <a:ext cx="1619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E8DDCD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E8DDCD"/>
                </a:solidFill>
                <a:latin typeface="Avenir Next"/>
                <a:ea typeface="Avenir Next"/>
                <a:cs typeface="Avenir Next"/>
              </a:rPr>
              <a:t>well-mixed C/N pools; V, xC, xN, alive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02202D-9102-4D5B-B055-41D744137E49}"/>
              </a:ext>
            </a:extLst>
          </p:cNvPr>
          <p:cNvSpPr>
            <a:spLocks noGrp="1"/>
          </p:cNvSpPr>
          <p:nvPr/>
        </p:nvSpPr>
        <p:spPr>
          <a:xfrm>
            <a:off x="1028700" y="3981450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563" b="1">
                <a:solidFill>
                  <a:srgbClr val="BED4C5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BED4C5"/>
                </a:solidFill>
                <a:latin typeface="Avenir Next"/>
                <a:ea typeface="Avenir Next"/>
                <a:cs typeface="Avenir Next"/>
              </a:rPr>
              <a:t>G A T 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0B43C5-0D47-4F24-AE5B-20565AB31CA4}"/>
              </a:ext>
            </a:extLst>
          </p:cNvPr>
          <p:cNvSpPr>
            <a:spLocks noGrp="1"/>
          </p:cNvSpPr>
          <p:nvPr/>
        </p:nvSpPr>
        <p:spPr>
          <a:xfrm>
            <a:off x="1028700" y="4171950"/>
            <a:ext cx="1619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compare aggregate trajectory to official chemostat mDEB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FCA6BF-A0E5-4232-B36E-5CBDFC94CD29}"/>
              </a:ext>
            </a:extLst>
          </p:cNvPr>
          <p:cNvSpPr>
            <a:spLocks noGrp="1"/>
          </p:cNvSpPr>
          <p:nvPr/>
        </p:nvSpPr>
        <p:spPr>
          <a:xfrm>
            <a:off x="3505200" y="2343150"/>
            <a:ext cx="2057400" cy="2400300"/>
          </a:xfrm>
          <a:prstGeom prst="rect">
            <a:avLst/>
          </a:prstGeom>
          <a:solidFill>
            <a:srgbClr val="EEE4D6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3F92CD-DAEE-4AF0-AB84-739FE619D2D5}"/>
              </a:ext>
            </a:extLst>
          </p:cNvPr>
          <p:cNvSpPr>
            <a:spLocks noGrp="1"/>
          </p:cNvSpPr>
          <p:nvPr/>
        </p:nvSpPr>
        <p:spPr>
          <a:xfrm>
            <a:off x="3714750" y="25717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58735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58735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845D08-6DFD-4C59-A451-EC83A0CA1419}"/>
              </a:ext>
            </a:extLst>
          </p:cNvPr>
          <p:cNvSpPr>
            <a:spLocks noGrp="1"/>
          </p:cNvSpPr>
          <p:nvPr/>
        </p:nvSpPr>
        <p:spPr>
          <a:xfrm>
            <a:off x="4210050" y="260985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Calibrate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FA76A8-051E-4577-994E-9DA87BF33EDC}"/>
              </a:ext>
            </a:extLst>
          </p:cNvPr>
          <p:cNvSpPr>
            <a:spLocks noGrp="1"/>
          </p:cNvSpPr>
          <p:nvPr/>
        </p:nvSpPr>
        <p:spPr>
          <a:xfrm>
            <a:off x="3714750" y="3028950"/>
            <a:ext cx="161925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9A6C7F-E29A-46EF-ABC4-444AA6C7642B}"/>
              </a:ext>
            </a:extLst>
          </p:cNvPr>
          <p:cNvSpPr>
            <a:spLocks noGrp="1"/>
          </p:cNvSpPr>
          <p:nvPr/>
        </p:nvSpPr>
        <p:spPr>
          <a:xfrm>
            <a:off x="3714750" y="3257550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563" b="1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B U I L 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D2FB97-F06E-41D5-A816-9FDB1D1C9E11}"/>
              </a:ext>
            </a:extLst>
          </p:cNvPr>
          <p:cNvSpPr>
            <a:spLocks noGrp="1"/>
          </p:cNvSpPr>
          <p:nvPr/>
        </p:nvSpPr>
        <p:spPr>
          <a:xfrm>
            <a:off x="3714750" y="3448050"/>
            <a:ext cx="1619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single-cell observation layer and lineage objective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98BEF8-7D6C-4048-A8C6-1EF951ACD254}"/>
              </a:ext>
            </a:extLst>
          </p:cNvPr>
          <p:cNvSpPr>
            <a:spLocks noGrp="1"/>
          </p:cNvSpPr>
          <p:nvPr/>
        </p:nvSpPr>
        <p:spPr>
          <a:xfrm>
            <a:off x="3714750" y="3981450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563" b="1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G A T 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FF6B84-FF0E-462B-8527-E573EC0828CC}"/>
              </a:ext>
            </a:extLst>
          </p:cNvPr>
          <p:cNvSpPr>
            <a:spLocks noGrp="1"/>
          </p:cNvSpPr>
          <p:nvPr/>
        </p:nvSpPr>
        <p:spPr>
          <a:xfrm>
            <a:off x="3714750" y="4171950"/>
            <a:ext cx="1619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estimate vE, uptake, K, jM, yV, kappa, thresholds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CE14D3-0D64-4769-BCD2-89A63245A365}"/>
              </a:ext>
            </a:extLst>
          </p:cNvPr>
          <p:cNvSpPr>
            <a:spLocks noGrp="1"/>
          </p:cNvSpPr>
          <p:nvPr/>
        </p:nvSpPr>
        <p:spPr>
          <a:xfrm>
            <a:off x="6191250" y="2343150"/>
            <a:ext cx="2057400" cy="2400300"/>
          </a:xfrm>
          <a:prstGeom prst="rect">
            <a:avLst/>
          </a:prstGeom>
          <a:solidFill>
            <a:srgbClr val="EEE4D6"/>
          </a:solidFill>
          <a:ln w="9525">
            <a:solidFill>
              <a:srgbClr val="DACFBE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6D6222-5441-43BC-8F70-80F2E54EAE37}"/>
              </a:ext>
            </a:extLst>
          </p:cNvPr>
          <p:cNvSpPr>
            <a:spLocks noGrp="1"/>
          </p:cNvSpPr>
          <p:nvPr/>
        </p:nvSpPr>
        <p:spPr>
          <a:xfrm>
            <a:off x="6400800" y="25717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58735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58735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EA46B9-8B4B-4CEF-B13E-AA24CCD988C9}"/>
              </a:ext>
            </a:extLst>
          </p:cNvPr>
          <p:cNvSpPr>
            <a:spLocks noGrp="1"/>
          </p:cNvSpPr>
          <p:nvPr/>
        </p:nvSpPr>
        <p:spPr>
          <a:xfrm>
            <a:off x="6896100" y="260985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Stress test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2862ED-5518-4860-8597-CAEBFC819FE3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61925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D7F771-63D7-45EA-BABE-E02171127A4B}"/>
              </a:ext>
            </a:extLst>
          </p:cNvPr>
          <p:cNvSpPr>
            <a:spLocks noGrp="1"/>
          </p:cNvSpPr>
          <p:nvPr/>
        </p:nvSpPr>
        <p:spPr>
          <a:xfrm>
            <a:off x="6400800" y="3257550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563" b="1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B U I L 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CD9F7B-6DC4-4D7B-A0ED-12C49D1B0427}"/>
              </a:ext>
            </a:extLst>
          </p:cNvPr>
          <p:cNvSpPr>
            <a:spLocks noGrp="1"/>
          </p:cNvSpPr>
          <p:nvPr/>
        </p:nvSpPr>
        <p:spPr>
          <a:xfrm>
            <a:off x="6400800" y="3448050"/>
            <a:ext cx="1619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held-out pulse schedules and recovery experiments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DAF1A2-2F26-4641-9D61-954A9B5FE3CE}"/>
              </a:ext>
            </a:extLst>
          </p:cNvPr>
          <p:cNvSpPr>
            <a:spLocks noGrp="1"/>
          </p:cNvSpPr>
          <p:nvPr/>
        </p:nvSpPr>
        <p:spPr>
          <a:xfrm>
            <a:off x="6400800" y="3981450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563" b="1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G A T 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92CEBD-6BB6-47E6-812D-AB5B2F16EFE1}"/>
              </a:ext>
            </a:extLst>
          </p:cNvPr>
          <p:cNvSpPr>
            <a:spLocks noGrp="1"/>
          </p:cNvSpPr>
          <p:nvPr/>
        </p:nvSpPr>
        <p:spPr>
          <a:xfrm>
            <a:off x="6400800" y="4171950"/>
            <a:ext cx="1619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separate reserve memory from stochastic inheritance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25C07C3-85B4-498D-89F5-9A9913CE5541}"/>
              </a:ext>
            </a:extLst>
          </p:cNvPr>
          <p:cNvSpPr>
            <a:spLocks noGrp="1"/>
          </p:cNvSpPr>
          <p:nvPr/>
        </p:nvSpPr>
        <p:spPr>
          <a:xfrm>
            <a:off x="8877300" y="2343150"/>
            <a:ext cx="2057400" cy="24003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58735F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144DE6-BE7A-44F2-B355-E9ECA0B8F072}"/>
              </a:ext>
            </a:extLst>
          </p:cNvPr>
          <p:cNvSpPr>
            <a:spLocks noGrp="1"/>
          </p:cNvSpPr>
          <p:nvPr/>
        </p:nvSpPr>
        <p:spPr>
          <a:xfrm>
            <a:off x="9086850" y="25717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58735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58735F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7B0D9D8-26A0-4B8F-976E-48B3832D2C95}"/>
              </a:ext>
            </a:extLst>
          </p:cNvPr>
          <p:cNvSpPr>
            <a:spLocks noGrp="1"/>
          </p:cNvSpPr>
          <p:nvPr/>
        </p:nvSpPr>
        <p:spPr>
          <a:xfrm>
            <a:off x="9582150" y="260985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Spatialize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2A6145-764D-42EF-9CA2-2DA7C4A965AF}"/>
              </a:ext>
            </a:extLst>
          </p:cNvPr>
          <p:cNvSpPr>
            <a:spLocks noGrp="1"/>
          </p:cNvSpPr>
          <p:nvPr/>
        </p:nvSpPr>
        <p:spPr>
          <a:xfrm>
            <a:off x="9086850" y="3028950"/>
            <a:ext cx="161925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A9A695-3FE5-42DF-8371-53D1917AC788}"/>
              </a:ext>
            </a:extLst>
          </p:cNvPr>
          <p:cNvSpPr>
            <a:spLocks noGrp="1"/>
          </p:cNvSpPr>
          <p:nvPr/>
        </p:nvSpPr>
        <p:spPr>
          <a:xfrm>
            <a:off x="9086850" y="3257550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563" b="1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B U I L 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E52CF7F-D3CC-4628-AE3A-EC8075C1E967}"/>
              </a:ext>
            </a:extLst>
          </p:cNvPr>
          <p:cNvSpPr>
            <a:spLocks noGrp="1"/>
          </p:cNvSpPr>
          <p:nvPr/>
        </p:nvSpPr>
        <p:spPr>
          <a:xfrm>
            <a:off x="9086850" y="3448050"/>
            <a:ext cx="1619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16C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5716C"/>
                </a:solidFill>
                <a:latin typeface="Avenir Next"/>
                <a:ea typeface="Avenir Next"/>
                <a:cs typeface="Avenir Next"/>
              </a:rPr>
              <a:t>grid, aggregate, or transport-coupled environment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CC1851-45E4-4404-90E6-A49F37B16CF0}"/>
              </a:ext>
            </a:extLst>
          </p:cNvPr>
          <p:cNvSpPr>
            <a:spLocks noGrp="1"/>
          </p:cNvSpPr>
          <p:nvPr/>
        </p:nvSpPr>
        <p:spPr>
          <a:xfrm>
            <a:off x="9086850" y="3981450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563" b="1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G A T 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36015F1-235F-4B4A-B7A7-28DF1C28F347}"/>
              </a:ext>
            </a:extLst>
          </p:cNvPr>
          <p:cNvSpPr>
            <a:spLocks noGrp="1"/>
          </p:cNvSpPr>
          <p:nvPr/>
        </p:nvSpPr>
        <p:spPr>
          <a:xfrm>
            <a:off x="9086850" y="4171950"/>
            <a:ext cx="1619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generate reserve-diverse populations in local pulses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7CC28B3-495E-42F2-97F4-241FFC1B79C7}"/>
              </a:ext>
            </a:extLst>
          </p:cNvPr>
          <p:cNvSpPr>
            <a:spLocks noGrp="1"/>
          </p:cNvSpPr>
          <p:nvPr/>
        </p:nvSpPr>
        <p:spPr>
          <a:xfrm>
            <a:off x="1428750" y="5143500"/>
            <a:ext cx="38481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B96E3B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49A7681-5871-4DB7-BD7A-554F6254399F}"/>
              </a:ext>
            </a:extLst>
          </p:cNvPr>
          <p:cNvSpPr>
            <a:spLocks noGrp="1"/>
          </p:cNvSpPr>
          <p:nvPr/>
        </p:nvSpPr>
        <p:spPr>
          <a:xfrm>
            <a:off x="1676400" y="5353050"/>
            <a:ext cx="1181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B96E3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B96E3B"/>
                </a:solidFill>
                <a:latin typeface="Avenir Next"/>
                <a:ea typeface="Avenir Next"/>
                <a:cs typeface="Avenir Next"/>
              </a:rPr>
              <a:t>Main delivery risk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222B7D0-7E9F-4211-A2AA-A06A8FDC5DBF}"/>
              </a:ext>
            </a:extLst>
          </p:cNvPr>
          <p:cNvSpPr>
            <a:spLocks noGrp="1"/>
          </p:cNvSpPr>
          <p:nvPr/>
        </p:nvSpPr>
        <p:spPr>
          <a:xfrm>
            <a:off x="3028950" y="5295900"/>
            <a:ext cx="1943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Adding spatial machinery before the physiology loop has been validated.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0D17640-47D8-49AE-9602-21D09B6CC4E7}"/>
              </a:ext>
            </a:extLst>
          </p:cNvPr>
          <p:cNvSpPr>
            <a:spLocks noGrp="1"/>
          </p:cNvSpPr>
          <p:nvPr/>
        </p:nvSpPr>
        <p:spPr>
          <a:xfrm>
            <a:off x="6210300" y="5143500"/>
            <a:ext cx="3848100" cy="685800"/>
          </a:xfrm>
          <a:prstGeom prst="rect">
            <a:avLst/>
          </a:prstGeom>
          <a:solidFill>
            <a:srgbClr val="EEE4D6"/>
          </a:solidFill>
          <a:ln w="9525">
            <a:solidFill>
              <a:srgbClr val="58735F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76E0269-5E50-4630-99DC-14514F472EAA}"/>
              </a:ext>
            </a:extLst>
          </p:cNvPr>
          <p:cNvSpPr>
            <a:spLocks noGrp="1"/>
          </p:cNvSpPr>
          <p:nvPr/>
        </p:nvSpPr>
        <p:spPr>
          <a:xfrm>
            <a:off x="6457950" y="5353050"/>
            <a:ext cx="1352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8735F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58735F"/>
                </a:solidFill>
                <a:latin typeface="Avenir Next"/>
                <a:ea typeface="Avenir Next"/>
                <a:cs typeface="Avenir Next"/>
              </a:rPr>
              <a:t>Recommended next step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1992D78-1A8B-45CE-8A39-8AA92502051B}"/>
              </a:ext>
            </a:extLst>
          </p:cNvPr>
          <p:cNvSpPr>
            <a:spLocks noGrp="1"/>
          </p:cNvSpPr>
          <p:nvPr/>
        </p:nvSpPr>
        <p:spPr>
          <a:xfrm>
            <a:off x="7943850" y="5276850"/>
            <a:ext cx="1809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4202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42026"/>
                </a:solidFill>
                <a:latin typeface="Avenir Next"/>
                <a:ea typeface="Avenir Next"/>
                <a:cs typeface="Avenir Next"/>
              </a:rPr>
              <a:t>Build the chemostat ABM, then calibrate the observation layer on one microfluidics pulse schedule.</a:t>
            </a:r>
          </a:p>
        </p:txBody>
      </p:sp>
      <p:sp>
        <p:nvSpPr>
          <p:cNvPr id="43" name="footer-rule">
            <a:extLst>
              <a:ext uri="{FF2B5EF4-FFF2-40B4-BE49-F238E27FC236}">
                <a16:creationId xmlns:a16="http://schemas.microsoft.com/office/drawing/2014/main" id="{88310977-BFE0-4184-90B8-2A3F14A1BA74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DACF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footer-source">
            <a:extLst>
              <a:ext uri="{FF2B5EF4-FFF2-40B4-BE49-F238E27FC236}">
                <a16:creationId xmlns:a16="http://schemas.microsoft.com/office/drawing/2014/main" id="{F2C11C0F-412B-4E99-AE14-355DBA718733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8A817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8A8174"/>
                </a:solidFill>
                <a:latin typeface="Avenir Next"/>
                <a:ea typeface="Avenir Next"/>
                <a:cs typeface="Avenir Next"/>
              </a:rPr>
              <a:t>Source basis: minimal prototype, validation target, and next-step sections</a:t>
            </a:r>
          </a:p>
        </p:txBody>
      </p:sp>
      <p:sp>
        <p:nvSpPr>
          <p:cNvPr id="45" name="footer-page">
            <a:extLst>
              <a:ext uri="{FF2B5EF4-FFF2-40B4-BE49-F238E27FC236}">
                <a16:creationId xmlns:a16="http://schemas.microsoft.com/office/drawing/2014/main" id="{DDBD749F-3CCF-42AE-87BB-9349AB163537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5716C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5716C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193267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10201</TotalTime>
  <Words>1341</Words>
  <Application>Microsoft Macintosh PowerPoint</Application>
  <DocSecurity>0</DocSecurity>
  <PresentationFormat>Widescreen</PresentationFormat>
  <Paragraphs>250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Avenir Next</vt:lpstr>
      <vt:lpstr>Calibri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Jinyun Tang</cp:lastModifiedBy>
  <cp:revision>3</cp:revision>
  <dcterms:created xsi:type="dcterms:W3CDTF">2026-05-11T15:46:49Z</dcterms:created>
  <dcterms:modified xsi:type="dcterms:W3CDTF">2026-05-18T17:55:48Z</dcterms:modified>
</cp:coreProperties>
</file>